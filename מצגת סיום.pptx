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35" r:id="rId1"/>
  </p:sldMasterIdLst>
  <p:notesMasterIdLst>
    <p:notesMasterId r:id="rId15"/>
  </p:notesMasterIdLst>
  <p:sldIdLst>
    <p:sldId id="256" r:id="rId2"/>
    <p:sldId id="267" r:id="rId3"/>
    <p:sldId id="268" r:id="rId4"/>
    <p:sldId id="270" r:id="rId5"/>
    <p:sldId id="273" r:id="rId6"/>
    <p:sldId id="271" r:id="rId7"/>
    <p:sldId id="272" r:id="rId8"/>
    <p:sldId id="264" r:id="rId9"/>
    <p:sldId id="274" r:id="rId10"/>
    <p:sldId id="262" r:id="rId11"/>
    <p:sldId id="275" r:id="rId12"/>
    <p:sldId id="259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3813"/>
  </p:normalViewPr>
  <p:slideViewPr>
    <p:cSldViewPr snapToGrid="0">
      <p:cViewPr>
        <p:scale>
          <a:sx n="103" d="100"/>
          <a:sy n="103" d="100"/>
        </p:scale>
        <p:origin x="89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98165-09EB-F44F-8611-B98237520925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96A65-E40F-C044-8A4A-18E1034E006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1950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“One limitation of the T-F domain beamforming methods is their algorithmic delay. In detail, the delay usually beocomes longer than 100ms because a window longer than 100ms is widely used in STFT to model reverberation by the instantaneous mixing process in (2). Such a long delay, however, is not acceptable in various real-time applocations, including heading aids”.</a:t>
            </a:r>
          </a:p>
          <a:p>
            <a:endParaRPr lang="en-IL" dirty="0"/>
          </a:p>
          <a:p>
            <a:r>
              <a:rPr lang="en-IL" dirty="0"/>
              <a:t>“To avoid the algorithmic delay due to STFT and iSTFT, a time-domain method has been developed. It comprises the estimation of the spatital filter in the T-F domain and the extraction of the target signal in the time domain.”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96A65-E40F-C044-8A4A-18E1034E0063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7276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en-US" dirty="0"/>
              <a:t>”Although the truncation reduces the algorithmic delay to arbitrary samples, it does not retain the directivity or frequency response of the filter optimized in the T-F domain. When it is applied to the MPDR beamformer, the </a:t>
            </a:r>
            <a:r>
              <a:rPr lang="en-US" dirty="0" err="1"/>
              <a:t>distortionless</a:t>
            </a:r>
            <a:r>
              <a:rPr lang="en-US" dirty="0"/>
              <a:t> constraint in (7b) is also no longer satisfied”.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896A65-E40F-C044-8A4A-18E1034E0063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6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054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183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2884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010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957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468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161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118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542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884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7646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7030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076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5137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1864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0654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923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A84CE-D45A-8043-B857-2B5DEA1CCAAF}" type="datetimeFigureOut">
              <a:rPr lang="en-IL" smtClean="0"/>
              <a:t>08/03/2025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906E5-059A-EB4B-BEEF-11EACFDDA60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020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6" r:id="rId1"/>
    <p:sldLayoutId id="2147484237" r:id="rId2"/>
    <p:sldLayoutId id="2147484238" r:id="rId3"/>
    <p:sldLayoutId id="2147484239" r:id="rId4"/>
    <p:sldLayoutId id="2147484240" r:id="rId5"/>
    <p:sldLayoutId id="2147484241" r:id="rId6"/>
    <p:sldLayoutId id="2147484242" r:id="rId7"/>
    <p:sldLayoutId id="2147484243" r:id="rId8"/>
    <p:sldLayoutId id="2147484244" r:id="rId9"/>
    <p:sldLayoutId id="2147484245" r:id="rId10"/>
    <p:sldLayoutId id="2147484246" r:id="rId11"/>
    <p:sldLayoutId id="2147484247" r:id="rId12"/>
    <p:sldLayoutId id="2147484248" r:id="rId13"/>
    <p:sldLayoutId id="2147484249" r:id="rId14"/>
    <p:sldLayoutId id="2147484250" r:id="rId15"/>
    <p:sldLayoutId id="2147484251" r:id="rId16"/>
    <p:sldLayoutId id="214748425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2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5" Type="http://schemas.microsoft.com/office/2007/relationships/media" Target="../media/media3.wav"/><Relationship Id="rId4" Type="http://schemas.openxmlformats.org/officeDocument/2006/relationships/audio" Target="../media/media2.wav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6E38-9431-E7A3-EA56-8A29B2BB1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603904"/>
            <a:ext cx="9448800" cy="1825096"/>
          </a:xfrm>
        </p:spPr>
        <p:txBody>
          <a:bodyPr>
            <a:normAutofit/>
          </a:bodyPr>
          <a:lstStyle/>
          <a:p>
            <a:pPr algn="r" rtl="1"/>
            <a:r>
              <a:rPr lang="he-IL" sz="5400" dirty="0">
                <a:latin typeface="+mn-lt"/>
                <a:cs typeface="+mn-cs"/>
              </a:rPr>
              <a:t>פרויקט סופי בקורס "עיבוד אותות ושיטות למידה לדיבור"</a:t>
            </a:r>
            <a:endParaRPr lang="en-IL" sz="5400" dirty="0">
              <a:latin typeface="+mn-lt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7CFC2-F9EC-88DF-7C1C-7D5F64F8EB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dirty="0"/>
              <a:t>רוני כדורי 208580274</a:t>
            </a:r>
          </a:p>
          <a:p>
            <a: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dirty="0">
                <a:highlight>
                  <a:srgbClr val="FFFF00"/>
                </a:highlight>
              </a:rPr>
              <a:t>דוד לוין </a:t>
            </a:r>
            <a:endParaRPr lang="en-I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8414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A908-75FC-4EF1-98B1-E06AEC0E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41413"/>
                </a:solidFill>
                <a:effectLst/>
              </a:rPr>
              <a:t>Causal and Relaxed-</a:t>
            </a:r>
            <a:r>
              <a:rPr lang="en-US" dirty="0" err="1">
                <a:solidFill>
                  <a:srgbClr val="141413"/>
                </a:solidFill>
                <a:effectLst/>
              </a:rPr>
              <a:t>Distortionless</a:t>
            </a:r>
            <a:r>
              <a:rPr lang="en-US" dirty="0">
                <a:solidFill>
                  <a:srgbClr val="141413"/>
                </a:solidFill>
                <a:effectLst/>
              </a:rPr>
              <a:t> Response</a:t>
            </a:r>
            <a:br>
              <a:rPr lang="en-US" dirty="0">
                <a:solidFill>
                  <a:srgbClr val="141413"/>
                </a:solidFill>
                <a:effectLst/>
              </a:rPr>
            </a:br>
            <a:r>
              <a:rPr lang="en-US" dirty="0">
                <a:solidFill>
                  <a:srgbClr val="141413"/>
                </a:solidFill>
                <a:effectLst/>
              </a:rPr>
              <a:t>Beamforming for Online Target Source Extraction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4746E-E00A-8B14-6510-04D312C95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41413"/>
                </a:solidFill>
                <a:effectLst/>
              </a:rPr>
              <a:t>Yoshiki </a:t>
            </a:r>
            <a:r>
              <a:rPr lang="en-US" dirty="0" err="1">
                <a:solidFill>
                  <a:srgbClr val="141413"/>
                </a:solidFill>
                <a:effectLst/>
              </a:rPr>
              <a:t>Masuyama</a:t>
            </a:r>
            <a:r>
              <a:rPr lang="en-US" i="1" dirty="0">
                <a:solidFill>
                  <a:srgbClr val="141413"/>
                </a:solidFill>
                <a:effectLst/>
              </a:rPr>
              <a:t>, Graduate Student Member, IEEE</a:t>
            </a:r>
            <a:r>
              <a:rPr lang="en-US" dirty="0">
                <a:solidFill>
                  <a:srgbClr val="141413"/>
                </a:solidFill>
                <a:effectLst/>
              </a:rPr>
              <a:t>, </a:t>
            </a:r>
            <a:r>
              <a:rPr lang="en-US" dirty="0" err="1">
                <a:solidFill>
                  <a:srgbClr val="141413"/>
                </a:solidFill>
                <a:effectLst/>
              </a:rPr>
              <a:t>Kouei</a:t>
            </a:r>
            <a:r>
              <a:rPr lang="en-US" dirty="0">
                <a:solidFill>
                  <a:srgbClr val="141413"/>
                </a:solidFill>
                <a:effectLst/>
              </a:rPr>
              <a:t> Yamaoka </a:t>
            </a:r>
            <a:r>
              <a:rPr lang="en-US" i="1" dirty="0">
                <a:solidFill>
                  <a:srgbClr val="141413"/>
                </a:solidFill>
                <a:effectLst/>
              </a:rPr>
              <a:t>, Graduate Student Member, IEEE</a:t>
            </a:r>
            <a:r>
              <a:rPr lang="en-US" dirty="0">
                <a:solidFill>
                  <a:srgbClr val="141413"/>
                </a:solidFill>
                <a:effectLst/>
              </a:rPr>
              <a:t>, Yuma Kinoshita</a:t>
            </a:r>
            <a:r>
              <a:rPr lang="en-US" i="1" dirty="0">
                <a:solidFill>
                  <a:srgbClr val="141413"/>
                </a:solidFill>
                <a:effectLst/>
              </a:rPr>
              <a:t>, Member, IEEE</a:t>
            </a:r>
            <a:r>
              <a:rPr lang="en-US" dirty="0">
                <a:solidFill>
                  <a:srgbClr val="141413"/>
                </a:solidFill>
                <a:effectLst/>
              </a:rPr>
              <a:t>, </a:t>
            </a:r>
            <a:r>
              <a:rPr lang="en-US" dirty="0" err="1">
                <a:solidFill>
                  <a:srgbClr val="141413"/>
                </a:solidFill>
                <a:effectLst/>
              </a:rPr>
              <a:t>Taishi</a:t>
            </a:r>
            <a:r>
              <a:rPr lang="en-US" dirty="0">
                <a:solidFill>
                  <a:srgbClr val="141413"/>
                </a:solidFill>
                <a:effectLst/>
              </a:rPr>
              <a:t> Nakashima </a:t>
            </a:r>
            <a:r>
              <a:rPr lang="en-US" i="1" dirty="0">
                <a:solidFill>
                  <a:srgbClr val="141413"/>
                </a:solidFill>
                <a:effectLst/>
              </a:rPr>
              <a:t>, Student Member, IEEE</a:t>
            </a:r>
            <a:r>
              <a:rPr lang="en-US" dirty="0">
                <a:solidFill>
                  <a:srgbClr val="141413"/>
                </a:solidFill>
                <a:effectLst/>
              </a:rPr>
              <a:t>, and </a:t>
            </a:r>
            <a:r>
              <a:rPr lang="en-US" dirty="0" err="1">
                <a:solidFill>
                  <a:srgbClr val="141413"/>
                </a:solidFill>
                <a:effectLst/>
              </a:rPr>
              <a:t>Nobutaka</a:t>
            </a:r>
            <a:r>
              <a:rPr lang="en-US" dirty="0">
                <a:solidFill>
                  <a:srgbClr val="141413"/>
                </a:solidFill>
                <a:effectLst/>
              </a:rPr>
              <a:t> Ono </a:t>
            </a:r>
            <a:r>
              <a:rPr lang="en-US" i="1" dirty="0">
                <a:solidFill>
                  <a:srgbClr val="141413"/>
                </a:solidFill>
                <a:effectLst/>
              </a:rPr>
              <a:t>, Senior Member, IEEE</a:t>
            </a:r>
            <a:endParaRPr lang="en-US" dirty="0">
              <a:solidFill>
                <a:srgbClr val="1414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65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BAEB-5635-D21A-1D92-C60DDAF6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Target Source Extraction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1B738-AFBB-23FE-9E4F-1DBFA91E9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1"/>
            <a:ext cx="10820400" cy="4024125"/>
          </a:xfrm>
        </p:spPr>
        <p:txBody>
          <a:bodyPr>
            <a:normAutofit/>
          </a:bodyPr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חילוץ והפרדה של מקור דיבור מסוים בסביבה רועשת</a:t>
            </a:r>
          </a:p>
          <a:p>
            <a:pPr algn="r" rtl="1"/>
            <a:r>
              <a:rPr lang="he-IL" dirty="0"/>
              <a:t>אחת השיטות המסורתיות היא </a:t>
            </a:r>
            <a:r>
              <a:rPr lang="en-US" dirty="0"/>
              <a:t>Beamforming</a:t>
            </a:r>
            <a:endParaRPr lang="he-IL" dirty="0"/>
          </a:p>
          <a:p>
            <a:pPr algn="r" rtl="1"/>
            <a:r>
              <a:rPr lang="he-IL" dirty="0"/>
              <a:t>שימוש בטכניקת </a:t>
            </a:r>
            <a:r>
              <a:rPr lang="en-US" dirty="0"/>
              <a:t>MPDR</a:t>
            </a:r>
            <a:r>
              <a:rPr lang="he-IL" dirty="0"/>
              <a:t>, </a:t>
            </a:r>
            <a:r>
              <a:rPr lang="en-US" dirty="0"/>
              <a:t>MVDR</a:t>
            </a:r>
            <a:r>
              <a:rPr lang="he-IL" dirty="0"/>
              <a:t> לפתרון הבעיה</a:t>
            </a:r>
          </a:p>
          <a:p>
            <a:pPr algn="r" rtl="1"/>
            <a:r>
              <a:rPr lang="he-IL" dirty="0"/>
              <a:t>התמקדות בפתרון </a:t>
            </a:r>
            <a:r>
              <a:rPr lang="he-IL" b="1" dirty="0"/>
              <a:t>זמן-אמת </a:t>
            </a:r>
            <a:r>
              <a:rPr lang="he-IL" dirty="0"/>
              <a:t>עם דרישת </a:t>
            </a:r>
            <a:r>
              <a:rPr lang="en-US" dirty="0"/>
              <a:t>low-latency</a:t>
            </a:r>
            <a:r>
              <a:rPr lang="he-IL" dirty="0"/>
              <a:t> </a:t>
            </a:r>
          </a:p>
          <a:p>
            <a:pPr algn="r" rtl="1"/>
            <a:r>
              <a:rPr lang="he-IL" dirty="0"/>
              <a:t>נחוץ במגוון אפליקציות, בין היתר עבור מכשירי שמיעה</a:t>
            </a:r>
          </a:p>
        </p:txBody>
      </p:sp>
    </p:spTree>
    <p:extLst>
      <p:ext uri="{BB962C8B-B14F-4D97-AF65-F5344CB8AC3E}">
        <p14:creationId xmlns:p14="http://schemas.microsoft.com/office/powerpoint/2010/main" val="123870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FDD2-240D-84AA-7F3D-94892C7C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367" y="764373"/>
            <a:ext cx="9230833" cy="1293028"/>
          </a:xfrm>
        </p:spPr>
        <p:txBody>
          <a:bodyPr/>
          <a:lstStyle/>
          <a:p>
            <a:pPr rtl="1"/>
            <a:r>
              <a:rPr lang="he-IL" dirty="0">
                <a:cs typeface="+mn-cs"/>
              </a:rPr>
              <a:t>תיאור השיטה - </a:t>
            </a:r>
            <a:r>
              <a:rPr lang="en-US" dirty="0" err="1">
                <a:cs typeface="+mn-cs"/>
              </a:rPr>
              <a:t>MPrDR</a:t>
            </a:r>
            <a:r>
              <a:rPr lang="en-US" dirty="0">
                <a:cs typeface="+mn-cs"/>
              </a:rPr>
              <a:t> Beamformer</a:t>
            </a:r>
            <a:r>
              <a:rPr lang="he-IL" dirty="0">
                <a:cs typeface="+mn-cs"/>
              </a:rPr>
              <a:t> </a:t>
            </a:r>
            <a:endParaRPr lang="en-IL" dirty="0"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695AF1-F7C0-C826-68A8-2813A1501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40508" y="2556669"/>
            <a:ext cx="7153264" cy="4024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F0378F-A8F7-7690-5A1F-5F38DC55E497}"/>
              </a:ext>
            </a:extLst>
          </p:cNvPr>
          <p:cNvSpPr txBox="1"/>
          <p:nvPr/>
        </p:nvSpPr>
        <p:spPr>
          <a:xfrm>
            <a:off x="2827712" y="170592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Minimum Power Relaxed-</a:t>
            </a:r>
            <a:r>
              <a:rPr lang="en-US" sz="18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Distortionless</a:t>
            </a:r>
            <a:r>
              <a:rPr lang="en-US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Response</a:t>
            </a:r>
            <a:r>
              <a:rPr lang="en-IL" dirty="0">
                <a:effectLst/>
              </a:rPr>
              <a:t> 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FAC909-9B84-4875-E7B7-38AF8AE2B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38809"/>
            <a:ext cx="5259974" cy="401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51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FD3DF-53B7-21B6-D8DC-37C241C3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9674" y="764373"/>
            <a:ext cx="9326526" cy="1293028"/>
          </a:xfrm>
        </p:spPr>
        <p:txBody>
          <a:bodyPr/>
          <a:lstStyle/>
          <a:p>
            <a:pPr rtl="1"/>
            <a:r>
              <a:rPr lang="he-IL" dirty="0">
                <a:cs typeface="+mn-cs"/>
              </a:rPr>
              <a:t>תיאור השיטה - </a:t>
            </a:r>
            <a:r>
              <a:rPr lang="en-US" dirty="0" err="1">
                <a:cs typeface="+mn-cs"/>
              </a:rPr>
              <a:t>MPrDR</a:t>
            </a:r>
            <a:r>
              <a:rPr lang="en-US" dirty="0">
                <a:cs typeface="+mn-cs"/>
              </a:rPr>
              <a:t> Beamformer</a:t>
            </a:r>
            <a:r>
              <a:rPr lang="he-IL" dirty="0">
                <a:cs typeface="+mn-cs"/>
              </a:rPr>
              <a:t> 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7A302-751A-45E4-9006-D04A167BB2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L" sz="1800" i="1" kern="10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25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,  </m:t>
                      </m:r>
                      <m:func>
                        <m:func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L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min</m:t>
                              </m:r>
                            </m:e>
                            <m:lim>
                              <m:sSubSup>
                                <m:sSubSupPr>
                                  <m:ctrlPr>
                                    <a:rPr lang="en-IL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ctrlPr>
                                        <a:rPr lang="en-IL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L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1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IL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𝐹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sup>
                              </m:sSubSup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L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𝑓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𝐹</m:t>
                              </m:r>
                              <m:r>
                                <a:rPr lang="en-US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IL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IL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L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25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𝑠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.          </m:t>
                      </m:r>
                      <m:sSubSup>
                        <m:sSubSup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𝒘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𝐻</m:t>
                          </m:r>
                        </m:sup>
                      </m:sSubSup>
                      <m:sSub>
                        <m:sSub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b="1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=1+</m:t>
                      </m:r>
                      <m:sSub>
                        <m:sSub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  ∀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𝑓</m:t>
                      </m:r>
                    </m:oMath>
                  </m:oMathPara>
                </a14:m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25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𝑐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≥0  ∀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𝑓</m:t>
                      </m:r>
                    </m:oMath>
                  </m:oMathPara>
                </a14:m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25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</m:d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,  </m:t>
                      </m:r>
                      <m:sSub>
                        <m:sSub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IL" sz="1800" i="1" kern="10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L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IL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IL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L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0,</m:t>
                                          </m:r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IL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𝐹</m:t>
                                          </m:r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−1,</m:t>
                                          </m:r>
                                          <m:r>
                                            <a:rPr lang="en-US" sz="1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Arial" panose="020B0604020202020204" pitchFamily="34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𝐻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=0,  ∀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𝑚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∉</m:t>
                      </m:r>
                      <m:sSub>
                        <m:sSubPr>
                          <m:ctrlPr>
                            <a:rPr lang="en-IL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𝒩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r" rtl="1">
                  <a:lnSpc>
                    <a:spcPct val="120000"/>
                  </a:lnSpc>
                  <a:buFont typeface="Arial" panose="020B0604020202020204" pitchFamily="34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𝒘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ℂ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מקדמי המסנן המרחבי (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spatial filter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)</a:t>
                </a:r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r" rtl="1">
                  <a:lnSpc>
                    <a:spcPct val="120000"/>
                  </a:lnSpc>
                  <a:buFont typeface="Arial" panose="020B0604020202020204" pitchFamily="34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ℂ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𝑀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×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ה-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SCM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(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spatial covariance matrix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)</a:t>
                </a:r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r" rtl="1">
                  <a:lnSpc>
                    <a:spcPct val="120000"/>
                  </a:lnSpc>
                  <a:buFont typeface="Arial" panose="020B0604020202020204" pitchFamily="34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ℂ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וקטור ה-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RTF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(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relative transfer function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)</a:t>
                </a:r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r" rtl="1">
                  <a:lnSpc>
                    <a:spcPct val="120000"/>
                  </a:lnSpc>
                  <a:buFont typeface="Arial" panose="020B0604020202020204" pitchFamily="34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𝑧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1800" kern="100" dirty="0">
                    <a:effectLst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– פרמטרי ה- </a:t>
                </a:r>
                <a:r>
                  <a:rPr lang="en-US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gain</a:t>
                </a:r>
                <a:r>
                  <a:rPr lang="he-IL" sz="1800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המוגבלים להיות ערכים לא שליליים ומייצגים את ההקלה בתנאי חוסר העיוות.</a:t>
                </a:r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r" rtl="1">
                  <a:lnSpc>
                    <a:spcPct val="120000"/>
                  </a:lnSpc>
                  <a:buFont typeface="Arial" panose="020B0604020202020204" pitchFamily="34" charset="0"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𝛿</m:t>
                        </m:r>
                      </m:sub>
                    </m:sSub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L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𝛿</m:t>
                        </m:r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en-IL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US" sz="1800" i="1" kern="10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−1</m:t>
                        </m:r>
                      </m:e>
                    </m:d>
                  </m:oMath>
                </a14:m>
                <a:endParaRPr lang="en-IL" sz="1800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228600" indent="-228600" algn="r" defTabSz="914400" rtl="1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7A302-751A-45E4-9006-D04A167BB2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742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2EAF-CA78-76BB-3D9A-80A688C0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cs typeface="+mn-cs"/>
              </a:rPr>
              <a:t>תחום הזמן-תדר</a:t>
            </a:r>
            <a:endParaRPr lang="en-IL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56574-F92E-49C8-163E-9C902BAE7A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מקדמי ה- </a:t>
                </a:r>
                <a:r>
                  <a:rPr lang="en-US" dirty="0"/>
                  <a:t>RTF</a:t>
                </a:r>
                <a:r>
                  <a:rPr lang="he-IL" dirty="0"/>
                  <a:t> </a:t>
                </a:r>
                <a:r>
                  <a:rPr lang="en-US" dirty="0"/>
                  <a:t>(Relative Transfer Function)</a:t>
                </a:r>
                <a:r>
                  <a:rPr lang="he-IL" dirty="0"/>
                  <a:t> של אות הדובר ידועים או משוערכים מראש.</a:t>
                </a:r>
              </a:p>
              <a:p>
                <a:pPr algn="r" rtl="1"/>
                <a:r>
                  <a:rPr lang="he-IL" dirty="0"/>
                  <a:t>שערוך ה- </a:t>
                </a:r>
                <a:r>
                  <a:rPr lang="en-US" dirty="0"/>
                  <a:t>SCM</a:t>
                </a:r>
                <a:r>
                  <a:rPr lang="he-IL" dirty="0"/>
                  <a:t> (</a:t>
                </a:r>
                <a:r>
                  <a:rPr lang="en-US" dirty="0"/>
                  <a:t>Spatial Covariance Matrix</a:t>
                </a:r>
                <a:r>
                  <a:rPr lang="he-IL" dirty="0"/>
                  <a:t>)</a:t>
                </a:r>
                <a:endParaRPr lang="en-US" dirty="0"/>
              </a:p>
              <a:p>
                <a:pPr algn="r" rtl="1"/>
                <a:r>
                  <a:rPr lang="he-IL" dirty="0"/>
                  <a:t>בניית </a:t>
                </a:r>
                <a:r>
                  <a:rPr lang="en-US" dirty="0"/>
                  <a:t>quasi-causal spatial filter</a:t>
                </a:r>
                <a:endParaRPr lang="he-IL" dirty="0"/>
              </a:p>
              <a:p>
                <a:pPr algn="r" rtl="1"/>
                <a:r>
                  <a:rPr lang="he-IL" dirty="0"/>
                  <a:t>נעשה שימוש בשיטת </a:t>
                </a:r>
                <a:r>
                  <a:rPr lang="en-US" dirty="0"/>
                  <a:t>DRS</a:t>
                </a:r>
                <a:r>
                  <a:rPr lang="he-IL" dirty="0"/>
                  <a:t> (</a:t>
                </a:r>
                <a:r>
                  <a:rPr lang="en-US" dirty="0" err="1"/>
                  <a:t>Dougles</a:t>
                </a:r>
                <a:r>
                  <a:rPr lang="en-US" dirty="0"/>
                  <a:t> </a:t>
                </a:r>
                <a:r>
                  <a:rPr lang="en-US" dirty="0" err="1"/>
                  <a:t>Rachford</a:t>
                </a:r>
                <a:r>
                  <a:rPr lang="en-US" dirty="0"/>
                  <a:t> Splitting</a:t>
                </a:r>
                <a:r>
                  <a:rPr lang="he-IL" dirty="0"/>
                  <a:t>) לפתרון בעיית האופטימיזציה.</a:t>
                </a:r>
                <a:endParaRPr lang="en-US" dirty="0"/>
              </a:p>
              <a:p>
                <a:pPr algn="r" rtl="1"/>
                <a:r>
                  <a:rPr lang="he-IL" dirty="0"/>
                  <a:t>עלות חישוב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L" i="1">
                            <a:effectLst/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IL" i="1">
                                <a:effectLst/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𝒪</m:t>
                            </m:r>
                            <m:d>
                              <m:dPr>
                                <m:ctrlPr>
                                  <a:rPr lang="en-IL" i="1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𝐹</m:t>
                                </m:r>
                                <m:sSup>
                                  <m:sSupPr>
                                    <m:ctrlPr>
                                      <a:rPr lang="en-IL" i="1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𝒪</m:t>
                            </m:r>
                            <m:d>
                              <m:dPr>
                                <m:ctrlPr>
                                  <a:rPr lang="en-IL" i="1">
                                    <a:effectLst/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Arial" panose="020B0604020202020204" pitchFamily="34" charset="0"/>
                                  </a:rPr>
                                  <m:t>𝐹𝑀</m:t>
                                </m:r>
                                <m:func>
                                  <m:funcPr>
                                    <m:ctrlPr>
                                      <a:rPr lang="en-IL" i="1">
                                        <a:effectLst/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𝐹</m:t>
                                    </m:r>
                                  </m:e>
                                </m:func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algn="r" rtl="1"/>
                <a:endParaRPr lang="he-IL" dirty="0"/>
              </a:p>
              <a:p>
                <a:pPr marL="228600" indent="-228600" algn="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he-IL" dirty="0"/>
              </a:p>
              <a:p>
                <a:pPr marL="228600" indent="-228600" algn="r" defTabSz="914400" rtl="1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756574-F92E-49C8-163E-9C902BAE7A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87" r="-5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805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00A3-E06B-6894-2A57-67CF5B4A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>
                <a:cs typeface="+mn-cs"/>
              </a:rPr>
              <a:t>תחום הזמן – </a:t>
            </a:r>
            <a:r>
              <a:rPr lang="en-US" dirty="0">
                <a:cs typeface="+mn-cs"/>
              </a:rPr>
              <a:t>Filter and sum</a:t>
            </a:r>
            <a:endParaRPr lang="en-IL" dirty="0"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34319-8BEB-7959-AE3A-4FA9A5B209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r" rtl="1"/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אות המוצא מחולץ דגימה-דגימה על ידי ה- </a:t>
                </a:r>
                <a:r>
                  <a:rPr lang="en-US" dirty="0"/>
                  <a:t>quasi-causal spatial filter</a:t>
                </a:r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בפעולת </a:t>
                </a:r>
                <a:r>
                  <a:rPr lang="he-IL" kern="100" dirty="0" err="1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קונבולוציה</a:t>
                </a:r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בזמן.</a:t>
                </a:r>
              </a:p>
              <a:p>
                <a:pPr algn="r" rtl="1"/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נעשה שימוש במסנן </a:t>
                </a:r>
                <a:r>
                  <a:rPr lang="en-US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quasi-causal filter</a:t>
                </a:r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𝒩</m:t>
                        </m:r>
                      </m:e>
                      <m:sub>
                        <m: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𝛿</m:t>
                        </m:r>
                      </m:sub>
                    </m:sSub>
                    <m:r>
                      <a:rPr lang="en-US" b="0" i="1" kern="100" dirty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𝛿</m:t>
                        </m:r>
                        <m: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,</m:t>
                        </m:r>
                        <m:f>
                          <m:fPr>
                            <m:ctrlPr>
                              <a:rPr lang="en-US" b="0" i="1" kern="100" dirty="0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b="0" i="1" kern="100" dirty="0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US" b="0" i="1" kern="100" dirty="0" smtClean="0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Arial" panose="020B0604020202020204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kern="100" dirty="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: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kern="100" dirty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b="0" i="1" kern="10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b="0" i="1" kern="100" dirty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US" b="0" i="1" kern="100" dirty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b="0" i="1" kern="100" dirty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</m:sSub>
                      <m:r>
                        <a:rPr lang="en-US" b="0" i="1" kern="100" dirty="0" smtClean="0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kern="100" dirty="0" smtClean="0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kern="100" dirty="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b="0" i="1" kern="100" dirty="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𝒩</m:t>
                                      </m:r>
                                    </m:e>
                                    <m:sub>
                                      <m: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𝛿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b="0" i="1" kern="100" dirty="0" smtClean="0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Arial" panose="020B0604020202020204" pitchFamily="34" charset="0"/>
                                </a:rPr>
                                <m:t>0   </m:t>
                              </m:r>
                              <m:d>
                                <m:dPr>
                                  <m:ctrlP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  <m:r>
                                    <a:rPr lang="en-US" b="0" i="1" kern="100" dirty="0" smtClean="0"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Arial" panose="020B0604020202020204" pitchFamily="34" charset="0"/>
                                    </a:rPr>
                                    <m:t>∉</m:t>
                                  </m:r>
                                  <m:sSub>
                                    <m:sSubPr>
                                      <m:ctrlP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𝒩</m:t>
                                      </m:r>
                                    </m:e>
                                    <m:sub>
                                      <m:r>
                                        <a:rPr lang="en-US" b="0" i="1" kern="100" dirty="0" smtClean="0"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Arial" panose="020B0604020202020204" pitchFamily="34" charset="0"/>
                                        </a:rPr>
                                        <m:t>𝛿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he-IL" kern="100" dirty="0"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r" rtl="1"/>
                <a:endParaRPr lang="he-IL" kern="100" dirty="0"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r" rtl="1"/>
                <a:r>
                  <a:rPr lang="he-IL" kern="100" dirty="0"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הוספת </a:t>
                </a:r>
                <a:r>
                  <a:rPr lang="he-IL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השהייה של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𝛿</m:t>
                    </m:r>
                  </m:oMath>
                </a14:m>
                <a:r>
                  <a:rPr lang="he-IL" kern="1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דגימות לא סיבתיות, כאשר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𝛿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≥0</m:t>
                    </m:r>
                  </m:oMath>
                </a14:m>
                <a:endParaRPr lang="en-US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r" rtl="1"/>
                <a:endParaRPr lang="en-IL" kern="1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634319-8BEB-7959-AE3A-4FA9A5B20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1069" r="-586" b="-2232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28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2696-B31C-EB1C-80FE-96392ADD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cs typeface="+mn-cs"/>
              </a:rPr>
              <a:t>תוצאות סימולציה</a:t>
            </a:r>
            <a:endParaRPr lang="en-IL" dirty="0">
              <a:cs typeface="+mn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0C2743-45D0-A1FC-0CD1-1F9D84C4B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434280"/>
            <a:ext cx="5848865" cy="3138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9A3C02-6EF2-766F-0FFB-5D4D76743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54758"/>
            <a:ext cx="5867635" cy="2897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0391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5B6B-16B7-E0FE-DC62-3901BC8C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8BFD-EE09-B5AF-C204-728AB5B5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cs typeface="+mn-cs"/>
              </a:rPr>
              <a:t>תוצאות סימולציה</a:t>
            </a:r>
            <a:endParaRPr lang="en-IL" dirty="0"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6DD463-6455-EE2F-AE5D-7C787795A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0" y="1742902"/>
            <a:ext cx="9869782" cy="5115098"/>
          </a:xfrm>
          <a:prstGeom prst="rect">
            <a:avLst/>
          </a:prstGeom>
        </p:spPr>
      </p:pic>
      <p:pic>
        <p:nvPicPr>
          <p:cNvPr id="8" name="source_signal_0.wav">
            <a:hlinkClick r:id="" action="ppaction://media"/>
            <a:extLst>
              <a:ext uri="{FF2B5EF4-FFF2-40B4-BE49-F238E27FC236}">
                <a16:creationId xmlns:a16="http://schemas.microsoft.com/office/drawing/2014/main" id="{770597A3-93B0-BA81-4CE1-59D24AECBA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693400" y="2568832"/>
            <a:ext cx="812800" cy="812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FBC63A-6677-CA30-78DA-A583B5F4165B}"/>
              </a:ext>
            </a:extLst>
          </p:cNvPr>
          <p:cNvSpPr txBox="1"/>
          <p:nvPr/>
        </p:nvSpPr>
        <p:spPr>
          <a:xfrm>
            <a:off x="10438713" y="2064952"/>
            <a:ext cx="1322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he-IL" dirty="0"/>
              <a:t>אות המקור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70723-8FB9-11F6-6FC4-9A3B6DCDD7B3}"/>
              </a:ext>
            </a:extLst>
          </p:cNvPr>
          <p:cNvSpPr txBox="1"/>
          <p:nvPr/>
        </p:nvSpPr>
        <p:spPr>
          <a:xfrm>
            <a:off x="10438713" y="3516180"/>
            <a:ext cx="1322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he-IL" dirty="0"/>
              <a:t>אות מורעש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1D5E2-C7C5-4910-5577-BEE86853A303}"/>
              </a:ext>
            </a:extLst>
          </p:cNvPr>
          <p:cNvSpPr txBox="1"/>
          <p:nvPr/>
        </p:nvSpPr>
        <p:spPr>
          <a:xfrm>
            <a:off x="9341709" y="5054594"/>
            <a:ext cx="2419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he-IL" dirty="0"/>
              <a:t>אות במוצא </a:t>
            </a:r>
            <a:r>
              <a:rPr lang="en-US" dirty="0"/>
              <a:t>prop-relax</a:t>
            </a:r>
            <a:endParaRPr lang="en-IL" dirty="0"/>
          </a:p>
        </p:txBody>
      </p:sp>
      <p:pic>
        <p:nvPicPr>
          <p:cNvPr id="12" name="xt_0.wav">
            <a:hlinkClick r:id="" action="ppaction://media"/>
            <a:extLst>
              <a:ext uri="{FF2B5EF4-FFF2-40B4-BE49-F238E27FC236}">
                <a16:creationId xmlns:a16="http://schemas.microsoft.com/office/drawing/2014/main" id="{7B587276-F510-1116-DD7B-00F3E4A170A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676923" y="4063653"/>
            <a:ext cx="812800" cy="812800"/>
          </a:xfrm>
          <a:prstGeom prst="rect">
            <a:avLst/>
          </a:prstGeom>
        </p:spPr>
      </p:pic>
      <p:pic>
        <p:nvPicPr>
          <p:cNvPr id="13" name="prop_relax_out_0.wav">
            <a:hlinkClick r:id="" action="ppaction://media"/>
            <a:extLst>
              <a:ext uri="{FF2B5EF4-FFF2-40B4-BE49-F238E27FC236}">
                <a16:creationId xmlns:a16="http://schemas.microsoft.com/office/drawing/2014/main" id="{195DBDD7-A567-AF27-BEC7-989A99BC959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676923" y="560381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4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28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28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A1AF-6589-2772-DEDE-D5009DCD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0CF6-F16B-4BDA-7292-740A426F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תיאור השיטה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FC3B8-1B13-225A-F8A8-1832EB2A9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341"/>
            <a:ext cx="10515600" cy="4351338"/>
          </a:xfrm>
        </p:spPr>
        <p:txBody>
          <a:bodyPr/>
          <a:lstStyle/>
          <a:p>
            <a:pPr algn="r" rtl="1"/>
            <a:r>
              <a:rPr lang="en-US" sz="1800" u="sng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ONLINE</a:t>
            </a:r>
            <a:endParaRPr lang="en-IL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30001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C27E-FF28-6F5D-54A2-9194C392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6AC8-AFDD-4AF4-2334-F8126AAB4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cs typeface="+mn-cs"/>
              </a:rPr>
              <a:t>תוצאות סימולציה</a:t>
            </a:r>
            <a:endParaRPr lang="en-IL" dirty="0"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522D7-72EE-563C-E025-9DB558A53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418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BD4E-1B90-07B0-3994-AB562D4E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>
                <a:cs typeface="+mn-cs"/>
              </a:rPr>
              <a:t>החידוש והתרומה של המאמר ביחס לקיים</a:t>
            </a:r>
            <a:endParaRPr lang="en-IL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B9DE-E819-6172-C676-FF5D38DC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345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C7C2-0A9C-115A-3786-9B69A1EE4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cs typeface="+mn-cs"/>
              </a:rPr>
              <a:t>ביקורת והצעות לשיפור</a:t>
            </a:r>
            <a:endParaRPr lang="en-IL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D00F-CB15-ABE0-3E86-31A65127F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dirty="0"/>
              <a:t>עלות חישובית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he-IL" dirty="0"/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אופן בחירת פרמטרים אופטימליים</a:t>
            </a:r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he-IL" dirty="0"/>
          </a:p>
          <a:p>
            <a: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dirty="0"/>
              <a:t>איכון דוברים לאתחול מקדמי המסנן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9834128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{D4107712-16F2-814D-A0D3-642A2FDAE777}tf10001079</Template>
  <TotalTime>208</TotalTime>
  <Words>495</Words>
  <Application>Microsoft Macintosh PowerPoint</Application>
  <PresentationFormat>Widescreen</PresentationFormat>
  <Paragraphs>57</Paragraphs>
  <Slides>13</Slides>
  <Notes>2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Vapor Trail</vt:lpstr>
      <vt:lpstr>פרויקט סופי בקורס "עיבוד אותות ושיטות למידה לדיבור"</vt:lpstr>
      <vt:lpstr>Causal and Relaxed-Distortionless Response Beamforming for Online Target Source Extraction</vt:lpstr>
      <vt:lpstr>Target Source Extraction</vt:lpstr>
      <vt:lpstr>תיאור השיטה - MPrDR Beamformer </vt:lpstr>
      <vt:lpstr>תיאור השיטה - MPrDR Beamformer </vt:lpstr>
      <vt:lpstr>תחום הזמן-תדר</vt:lpstr>
      <vt:lpstr>תחום הזמן – Filter and sum</vt:lpstr>
      <vt:lpstr>תוצאות סימולציה</vt:lpstr>
      <vt:lpstr>תוצאות סימולציה</vt:lpstr>
      <vt:lpstr>תיאור השיטה</vt:lpstr>
      <vt:lpstr>תוצאות סימולציה</vt:lpstr>
      <vt:lpstr>החידוש והתרומה של המאמר ביחס לקיים</vt:lpstr>
      <vt:lpstr>ביקורת והצעות לשיפור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Roni Caduri</dc:creator>
  <cp:lastModifiedBy>Roni Caduri</cp:lastModifiedBy>
  <cp:revision>8</cp:revision>
  <dcterms:created xsi:type="dcterms:W3CDTF">2025-03-08T17:13:32Z</dcterms:created>
  <dcterms:modified xsi:type="dcterms:W3CDTF">2025-03-08T20:42:21Z</dcterms:modified>
</cp:coreProperties>
</file>