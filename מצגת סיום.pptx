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35" r:id="rId1"/>
  </p:sldMasterIdLst>
  <p:notesMasterIdLst>
    <p:notesMasterId r:id="rId16"/>
  </p:notesMasterIdLst>
  <p:sldIdLst>
    <p:sldId id="256" r:id="rId2"/>
    <p:sldId id="267" r:id="rId3"/>
    <p:sldId id="268" r:id="rId4"/>
    <p:sldId id="270" r:id="rId5"/>
    <p:sldId id="273" r:id="rId6"/>
    <p:sldId id="271" r:id="rId7"/>
    <p:sldId id="272" r:id="rId8"/>
    <p:sldId id="264" r:id="rId9"/>
    <p:sldId id="274" r:id="rId10"/>
    <p:sldId id="262" r:id="rId11"/>
    <p:sldId id="275" r:id="rId12"/>
    <p:sldId id="259" r:id="rId13"/>
    <p:sldId id="265" r:id="rId14"/>
    <p:sldId id="27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83813"/>
  </p:normalViewPr>
  <p:slideViewPr>
    <p:cSldViewPr snapToGrid="0">
      <p:cViewPr varScale="1">
        <p:scale>
          <a:sx n="93" d="100"/>
          <a:sy n="93" d="100"/>
        </p:scale>
        <p:origin x="123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198165-09EB-F44F-8611-B98237520925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896A65-E40F-C044-8A4A-18E1034E0063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31950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896A65-E40F-C044-8A4A-18E1034E0063}" type="slidenum">
              <a:rPr lang="en-IL" smtClean="0"/>
              <a:t>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97276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896A65-E40F-C044-8A4A-18E1034E0063}" type="slidenum">
              <a:rPr lang="en-IL" smtClean="0"/>
              <a:t>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7681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1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35A84CE-D45A-8043-B857-2B5DEA1CCAAF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70540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15183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1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35A84CE-D45A-8043-B857-2B5DEA1CCAAF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28841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9901058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769570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24684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71615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71189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85424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08848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1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35A84CE-D45A-8043-B857-2B5DEA1CCAAF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976462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1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35A84CE-D45A-8043-B857-2B5DEA1CCAAF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670305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1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35A84CE-D45A-8043-B857-2B5DEA1CCAAF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507633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751371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4518645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1706545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1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35A84CE-D45A-8043-B857-2B5DEA1CCAAF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39237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1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5A84CE-D45A-8043-B857-2B5DEA1CCAAF}" type="datetimeFigureOut">
              <a:rPr lang="en-IL" smtClean="0"/>
              <a:t>11/03/2025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66020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36" r:id="rId1"/>
    <p:sldLayoutId id="2147484237" r:id="rId2"/>
    <p:sldLayoutId id="2147484238" r:id="rId3"/>
    <p:sldLayoutId id="2147484239" r:id="rId4"/>
    <p:sldLayoutId id="2147484240" r:id="rId5"/>
    <p:sldLayoutId id="2147484241" r:id="rId6"/>
    <p:sldLayoutId id="2147484242" r:id="rId7"/>
    <p:sldLayoutId id="2147484243" r:id="rId8"/>
    <p:sldLayoutId id="2147484244" r:id="rId9"/>
    <p:sldLayoutId id="2147484245" r:id="rId10"/>
    <p:sldLayoutId id="2147484246" r:id="rId11"/>
    <p:sldLayoutId id="2147484247" r:id="rId12"/>
    <p:sldLayoutId id="2147484248" r:id="rId13"/>
    <p:sldLayoutId id="2147484249" r:id="rId14"/>
    <p:sldLayoutId id="2147484250" r:id="rId15"/>
    <p:sldLayoutId id="2147484251" r:id="rId16"/>
    <p:sldLayoutId id="2147484252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microsoft.com/office/2007/relationships/media" Target="../media/media2.wav"/><Relationship Id="rId7" Type="http://schemas.openxmlformats.org/officeDocument/2006/relationships/slideLayout" Target="../slideLayouts/slideLayout2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6" Type="http://schemas.openxmlformats.org/officeDocument/2006/relationships/audio" Target="../media/media3.wav"/><Relationship Id="rId5" Type="http://schemas.microsoft.com/office/2007/relationships/media" Target="../media/media3.wav"/><Relationship Id="rId10" Type="http://schemas.openxmlformats.org/officeDocument/2006/relationships/image" Target="../media/image13.png"/><Relationship Id="rId4" Type="http://schemas.openxmlformats.org/officeDocument/2006/relationships/audio" Target="../media/media2.wav"/><Relationship Id="rId9" Type="http://schemas.openxmlformats.org/officeDocument/2006/relationships/image" Target="../media/image12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audio" Target="../media/media7.wav"/><Relationship Id="rId3" Type="http://schemas.microsoft.com/office/2007/relationships/media" Target="../media/media5.wav"/><Relationship Id="rId7" Type="http://schemas.microsoft.com/office/2007/relationships/media" Target="../media/media7.wav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6" Type="http://schemas.openxmlformats.org/officeDocument/2006/relationships/audio" Target="../media/media6.wav"/><Relationship Id="rId11" Type="http://schemas.openxmlformats.org/officeDocument/2006/relationships/image" Target="../media/image18.png"/><Relationship Id="rId5" Type="http://schemas.microsoft.com/office/2007/relationships/media" Target="../media/media6.wav"/><Relationship Id="rId10" Type="http://schemas.openxmlformats.org/officeDocument/2006/relationships/image" Target="../media/image17.png"/><Relationship Id="rId4" Type="http://schemas.openxmlformats.org/officeDocument/2006/relationships/audio" Target="../media/media5.wav"/><Relationship Id="rId9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C6E38-9431-E7A3-EA56-8A29B2BB14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600" y="1603904"/>
            <a:ext cx="9448800" cy="1825096"/>
          </a:xfrm>
        </p:spPr>
        <p:txBody>
          <a:bodyPr>
            <a:normAutofit/>
          </a:bodyPr>
          <a:lstStyle/>
          <a:p>
            <a:pPr algn="r" rtl="1"/>
            <a:r>
              <a:rPr lang="he-IL" sz="5400" dirty="0">
                <a:latin typeface="+mn-lt"/>
                <a:cs typeface="+mn-cs"/>
              </a:rPr>
              <a:t>פרויקט סופי בקורס "עיבוד אותות ושיטות למידה לדיבור"</a:t>
            </a:r>
            <a:endParaRPr lang="en-IL" sz="5400" dirty="0">
              <a:latin typeface="+mn-lt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D7CFC2-F9EC-88DF-7C1C-7D5F64F8EB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he-IL" dirty="0"/>
              <a:t>רוני כדורי 208580274</a:t>
            </a:r>
          </a:p>
          <a:p>
            <a: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he-IL" dirty="0"/>
              <a:t>דוד לוין 207932526 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38414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CA908-75FC-4EF1-98B1-E06AEC0E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41413"/>
                </a:solidFill>
                <a:effectLst/>
              </a:rPr>
              <a:t>Causal and Relaxed-</a:t>
            </a:r>
            <a:r>
              <a:rPr lang="en-US" dirty="0" err="1">
                <a:solidFill>
                  <a:srgbClr val="141413"/>
                </a:solidFill>
                <a:effectLst/>
              </a:rPr>
              <a:t>Distortionless</a:t>
            </a:r>
            <a:r>
              <a:rPr lang="en-US" dirty="0">
                <a:solidFill>
                  <a:srgbClr val="141413"/>
                </a:solidFill>
                <a:effectLst/>
              </a:rPr>
              <a:t> Response</a:t>
            </a:r>
            <a:br>
              <a:rPr lang="en-US" dirty="0">
                <a:solidFill>
                  <a:srgbClr val="141413"/>
                </a:solidFill>
                <a:effectLst/>
              </a:rPr>
            </a:br>
            <a:r>
              <a:rPr lang="en-US" dirty="0">
                <a:solidFill>
                  <a:srgbClr val="141413"/>
                </a:solidFill>
                <a:effectLst/>
              </a:rPr>
              <a:t>Beamforming for Online Target Source Extraction</a:t>
            </a:r>
            <a:endParaRPr lang="en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04746E-E00A-8B14-6510-04D312C9592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141413"/>
                </a:solidFill>
                <a:effectLst/>
              </a:rPr>
              <a:t>Yoshiki </a:t>
            </a:r>
            <a:r>
              <a:rPr lang="en-US" dirty="0" err="1">
                <a:solidFill>
                  <a:srgbClr val="141413"/>
                </a:solidFill>
                <a:effectLst/>
              </a:rPr>
              <a:t>Masuyama</a:t>
            </a:r>
            <a:r>
              <a:rPr lang="en-US" i="1" dirty="0">
                <a:solidFill>
                  <a:srgbClr val="141413"/>
                </a:solidFill>
                <a:effectLst/>
              </a:rPr>
              <a:t>, Graduate Student Member, IEEE</a:t>
            </a:r>
            <a:r>
              <a:rPr lang="en-US" dirty="0">
                <a:solidFill>
                  <a:srgbClr val="141413"/>
                </a:solidFill>
                <a:effectLst/>
              </a:rPr>
              <a:t>, </a:t>
            </a:r>
            <a:r>
              <a:rPr lang="en-US" dirty="0" err="1">
                <a:solidFill>
                  <a:srgbClr val="141413"/>
                </a:solidFill>
                <a:effectLst/>
              </a:rPr>
              <a:t>Kouei</a:t>
            </a:r>
            <a:r>
              <a:rPr lang="en-US" dirty="0">
                <a:solidFill>
                  <a:srgbClr val="141413"/>
                </a:solidFill>
                <a:effectLst/>
              </a:rPr>
              <a:t> Yamaoka </a:t>
            </a:r>
            <a:r>
              <a:rPr lang="en-US" i="1" dirty="0">
                <a:solidFill>
                  <a:srgbClr val="141413"/>
                </a:solidFill>
                <a:effectLst/>
              </a:rPr>
              <a:t>, Graduate Student Member, IEEE</a:t>
            </a:r>
            <a:r>
              <a:rPr lang="en-US" dirty="0">
                <a:solidFill>
                  <a:srgbClr val="141413"/>
                </a:solidFill>
                <a:effectLst/>
              </a:rPr>
              <a:t>, Yuma Kinoshita</a:t>
            </a:r>
            <a:r>
              <a:rPr lang="en-US" i="1" dirty="0">
                <a:solidFill>
                  <a:srgbClr val="141413"/>
                </a:solidFill>
                <a:effectLst/>
              </a:rPr>
              <a:t>, Member, IEEE</a:t>
            </a:r>
            <a:r>
              <a:rPr lang="en-US" dirty="0">
                <a:solidFill>
                  <a:srgbClr val="141413"/>
                </a:solidFill>
                <a:effectLst/>
              </a:rPr>
              <a:t>, </a:t>
            </a:r>
            <a:r>
              <a:rPr lang="en-US" dirty="0" err="1">
                <a:solidFill>
                  <a:srgbClr val="141413"/>
                </a:solidFill>
                <a:effectLst/>
              </a:rPr>
              <a:t>Taishi</a:t>
            </a:r>
            <a:r>
              <a:rPr lang="en-US" dirty="0">
                <a:solidFill>
                  <a:srgbClr val="141413"/>
                </a:solidFill>
                <a:effectLst/>
              </a:rPr>
              <a:t> Nakashima </a:t>
            </a:r>
            <a:r>
              <a:rPr lang="en-US" i="1" dirty="0">
                <a:solidFill>
                  <a:srgbClr val="141413"/>
                </a:solidFill>
                <a:effectLst/>
              </a:rPr>
              <a:t>, Student Member, IEEE</a:t>
            </a:r>
            <a:r>
              <a:rPr lang="en-US" dirty="0">
                <a:solidFill>
                  <a:srgbClr val="141413"/>
                </a:solidFill>
                <a:effectLst/>
              </a:rPr>
              <a:t>, and </a:t>
            </a:r>
            <a:r>
              <a:rPr lang="en-US" dirty="0" err="1">
                <a:solidFill>
                  <a:srgbClr val="141413"/>
                </a:solidFill>
                <a:effectLst/>
              </a:rPr>
              <a:t>Nobutaka</a:t>
            </a:r>
            <a:r>
              <a:rPr lang="en-US" dirty="0">
                <a:solidFill>
                  <a:srgbClr val="141413"/>
                </a:solidFill>
                <a:effectLst/>
              </a:rPr>
              <a:t> Ono </a:t>
            </a:r>
            <a:r>
              <a:rPr lang="en-US" i="1" dirty="0">
                <a:solidFill>
                  <a:srgbClr val="141413"/>
                </a:solidFill>
                <a:effectLst/>
              </a:rPr>
              <a:t>, Senior Member, IEEE</a:t>
            </a:r>
            <a:endParaRPr lang="en-US" dirty="0">
              <a:solidFill>
                <a:srgbClr val="141413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60656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ABAEB-5635-D21A-1D92-C60DDAF66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en-US" dirty="0"/>
              <a:t>Target Source Extraction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1B738-AFBB-23FE-9E4F-1DBFA91E90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057401"/>
            <a:ext cx="10820400" cy="4024125"/>
          </a:xfrm>
        </p:spPr>
        <p:txBody>
          <a:bodyPr>
            <a:normAutofit/>
          </a:bodyPr>
          <a:lstStyle/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he-IL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חילוץ והפרדה של מקור דיבור מסוים בסביבה רועשת</a:t>
            </a:r>
          </a:p>
          <a:p>
            <a:pPr algn="r" rtl="1"/>
            <a:r>
              <a:rPr lang="he-IL" dirty="0"/>
              <a:t>אחת השיטות המסורתיות היא </a:t>
            </a:r>
            <a:r>
              <a:rPr lang="en-US" dirty="0"/>
              <a:t>Beamforming</a:t>
            </a:r>
            <a:endParaRPr lang="he-IL" dirty="0"/>
          </a:p>
          <a:p>
            <a:pPr algn="r" rtl="1"/>
            <a:r>
              <a:rPr lang="he-IL" dirty="0"/>
              <a:t>שימוש בטכניקת </a:t>
            </a:r>
            <a:r>
              <a:rPr lang="en-US" dirty="0"/>
              <a:t>MPDR</a:t>
            </a:r>
            <a:r>
              <a:rPr lang="he-IL" dirty="0"/>
              <a:t>, </a:t>
            </a:r>
            <a:r>
              <a:rPr lang="en-US" dirty="0"/>
              <a:t>MVDR</a:t>
            </a:r>
            <a:r>
              <a:rPr lang="he-IL" dirty="0"/>
              <a:t> לפתרון הבעיה</a:t>
            </a:r>
          </a:p>
          <a:p>
            <a:pPr algn="r" rtl="1"/>
            <a:r>
              <a:rPr lang="he-IL" dirty="0"/>
              <a:t>התמקדות בפתרון </a:t>
            </a:r>
            <a:r>
              <a:rPr lang="he-IL" b="1" dirty="0"/>
              <a:t>זמן-אמת </a:t>
            </a:r>
            <a:r>
              <a:rPr lang="he-IL" dirty="0"/>
              <a:t>עם דרישת </a:t>
            </a:r>
            <a:r>
              <a:rPr lang="en-US" dirty="0"/>
              <a:t>low-latency</a:t>
            </a:r>
            <a:r>
              <a:rPr lang="he-IL" dirty="0"/>
              <a:t> </a:t>
            </a:r>
          </a:p>
          <a:p>
            <a:pPr algn="r" rtl="1"/>
            <a:r>
              <a:rPr lang="he-IL" dirty="0"/>
              <a:t>נחוץ במגוון אפליקציות, בין היתר עבור מכשירי שמיעה</a:t>
            </a:r>
          </a:p>
        </p:txBody>
      </p:sp>
    </p:spTree>
    <p:extLst>
      <p:ext uri="{BB962C8B-B14F-4D97-AF65-F5344CB8AC3E}">
        <p14:creationId xmlns:p14="http://schemas.microsoft.com/office/powerpoint/2010/main" val="1238705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EFDD2-240D-84AA-7F3D-94892C7C3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5367" y="764373"/>
            <a:ext cx="9230833" cy="1293028"/>
          </a:xfrm>
        </p:spPr>
        <p:txBody>
          <a:bodyPr/>
          <a:lstStyle/>
          <a:p>
            <a:pPr rtl="1"/>
            <a:r>
              <a:rPr lang="he-IL" dirty="0">
                <a:cs typeface="+mn-cs"/>
              </a:rPr>
              <a:t>תיאור השיטה - </a:t>
            </a:r>
            <a:r>
              <a:rPr lang="en-US" dirty="0" err="1">
                <a:cs typeface="+mn-cs"/>
              </a:rPr>
              <a:t>MPrDR</a:t>
            </a:r>
            <a:r>
              <a:rPr lang="en-US" dirty="0">
                <a:cs typeface="+mn-cs"/>
              </a:rPr>
              <a:t> Beamformer</a:t>
            </a:r>
            <a:r>
              <a:rPr lang="he-IL" dirty="0">
                <a:cs typeface="+mn-cs"/>
              </a:rPr>
              <a:t> </a:t>
            </a:r>
            <a:endParaRPr lang="en-IL" dirty="0">
              <a:cs typeface="+mn-cs"/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B695AF1-F7C0-C826-68A8-2813A15012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040508" y="2556669"/>
            <a:ext cx="7153264" cy="40243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F0378F-A8F7-7690-5A1F-5F38DC55E497}"/>
              </a:ext>
            </a:extLst>
          </p:cNvPr>
          <p:cNvSpPr txBox="1"/>
          <p:nvPr/>
        </p:nvSpPr>
        <p:spPr>
          <a:xfrm>
            <a:off x="2827712" y="1705929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Minimum Power Relaxed-</a:t>
            </a:r>
            <a:r>
              <a:rPr lang="en-US" sz="1800" dirty="0" err="1">
                <a:effectLst/>
                <a:latin typeface="Calibri" panose="020F050202020403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Distortionless</a:t>
            </a:r>
            <a:r>
              <a:rPr lang="en-US" sz="18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 Response</a:t>
            </a:r>
            <a:r>
              <a:rPr lang="en-IL" dirty="0">
                <a:effectLst/>
              </a:rPr>
              <a:t> </a:t>
            </a:r>
            <a:endParaRPr lang="en-I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FAC909-9B84-4875-E7B7-38AF8AE2B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538809"/>
            <a:ext cx="5259974" cy="401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851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FD3DF-53B7-21B6-D8DC-37C241C37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9674" y="764373"/>
            <a:ext cx="9326526" cy="1293028"/>
          </a:xfrm>
        </p:spPr>
        <p:txBody>
          <a:bodyPr/>
          <a:lstStyle/>
          <a:p>
            <a:pPr rtl="1"/>
            <a:r>
              <a:rPr lang="he-IL" dirty="0">
                <a:cs typeface="+mn-cs"/>
              </a:rPr>
              <a:t>תיאור השיטה - </a:t>
            </a:r>
            <a:r>
              <a:rPr lang="en-US" dirty="0" err="1">
                <a:cs typeface="+mn-cs"/>
              </a:rPr>
              <a:t>MPrDR</a:t>
            </a:r>
            <a:r>
              <a:rPr lang="en-US" dirty="0">
                <a:cs typeface="+mn-cs"/>
              </a:rPr>
              <a:t> Beamformer</a:t>
            </a:r>
            <a:r>
              <a:rPr lang="he-IL" dirty="0">
                <a:cs typeface="+mn-cs"/>
              </a:rPr>
              <a:t> </a:t>
            </a:r>
            <a:endParaRPr lang="en-I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97A302-751A-45E4-9006-D04A167BB2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 algn="ctr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IL" sz="1800" i="1" kern="100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25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𝑎</m:t>
                          </m:r>
                        </m:e>
                      </m: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,  </m:t>
                      </m:r>
                      <m:func>
                        <m:funcPr>
                          <m:ctrlPr>
                            <a:rPr lang="en-IL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IL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800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min</m:t>
                              </m:r>
                            </m:e>
                            <m:lim>
                              <m:sSubSup>
                                <m:sSubSupPr>
                                  <m:ctrlPr>
                                    <a:rPr lang="en-IL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d>
                                    <m:dPr>
                                      <m:ctrlPr>
                                        <a:rPr lang="en-IL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IL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b="1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𝒘</m:t>
                                          </m:r>
                                        </m:e>
                                        <m:sub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𝑓</m:t>
                                          </m:r>
                                        </m:sub>
                                      </m:sSub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IL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𝑧</m:t>
                                          </m:r>
                                        </m:e>
                                        <m:sub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𝑓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b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=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𝐹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−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1</m:t>
                                  </m:r>
                                </m:sup>
                              </m:sSubSup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IL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naryPr>
                            <m:sub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𝑓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=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𝐹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−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1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IL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b="1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  <m:sup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𝐻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IL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IL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nary>
                        </m:e>
                      </m:func>
                    </m:oMath>
                  </m:oMathPara>
                </a14:m>
                <a:endParaRPr lang="en-IL" sz="1800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marL="0" indent="0" algn="ctr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IL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25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𝑏</m:t>
                          </m:r>
                        </m:e>
                      </m: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,  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𝑠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.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𝑡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.          </m:t>
                      </m:r>
                      <m:sSubSup>
                        <m:sSubSupPr>
                          <m:ctrlPr>
                            <a:rPr lang="en-IL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en-US" sz="1800" b="1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𝒘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  <m:sup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𝐻</m:t>
                          </m:r>
                        </m:sup>
                      </m:sSubSup>
                      <m:sSub>
                        <m:sSubPr>
                          <m:ctrlPr>
                            <a:rPr lang="en-IL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1800" b="1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𝒂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1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en-IL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𝑧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  ∀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𝑓</m:t>
                      </m:r>
                    </m:oMath>
                  </m:oMathPara>
                </a14:m>
                <a:endParaRPr lang="en-IL" sz="1800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marL="0" indent="0" algn="ctr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IL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25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𝑐</m:t>
                          </m:r>
                        </m:e>
                      </m: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,  </m:t>
                      </m:r>
                      <m:sSub>
                        <m:sSubPr>
                          <m:ctrlPr>
                            <a:rPr lang="en-IL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𝑧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≥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0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  ∀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𝑓</m:t>
                      </m:r>
                    </m:oMath>
                  </m:oMathPara>
                </a14:m>
                <a:endParaRPr lang="en-IL" sz="1800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marL="0" indent="0" algn="ctr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IL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25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𝑑</m:t>
                          </m:r>
                        </m:e>
                      </m: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,  </m:t>
                      </m:r>
                      <m:sSub>
                        <m:sSubPr>
                          <m:ctrlPr>
                            <a:rPr lang="en-IL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IL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IL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𝐷</m:t>
                                  </m:r>
                                </m:e>
                                <m:sup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−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1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IL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IL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IL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0</m:t>
                                          </m:r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IL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𝐹</m:t>
                                          </m:r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𝐻</m:t>
                                  </m:r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𝑛</m:t>
                          </m:r>
                        </m:sub>
                      </m:sSub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0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,  ∀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𝑚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,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𝑛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∉</m:t>
                      </m:r>
                      <m:sSub>
                        <m:sSubPr>
                          <m:ctrlPr>
                            <a:rPr lang="en-IL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𝒩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𝛿</m:t>
                          </m:r>
                        </m:sub>
                      </m:sSub>
                    </m:oMath>
                  </m:oMathPara>
                </a14:m>
                <a:endParaRPr lang="en-IL" sz="1800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marL="342900" lvl="0" indent="-342900" algn="r" rtl="1">
                  <a:lnSpc>
                    <a:spcPct val="120000"/>
                  </a:lnSpc>
                  <a:buFont typeface="Arial" panose="020B0604020202020204" pitchFamily="34" charset="0"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L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800" b="1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𝒘</m:t>
                        </m:r>
                      </m:e>
                      <m:sub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Arial" panose="020B0604020202020204" pitchFamily="34" charset="0"/>
                      </a:rPr>
                      <m:t>∈</m:t>
                    </m:r>
                    <m:sSup>
                      <m:sSupPr>
                        <m:ctrlPr>
                          <a:rPr lang="en-IL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ℂ</m:t>
                        </m:r>
                      </m:e>
                      <m:sup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he-IL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מקדמי המסנן המרחבי (</a:t>
                </a:r>
                <a:r>
                  <a:rPr lang="en-US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spatial filter</a:t>
                </a:r>
                <a:r>
                  <a:rPr lang="he-IL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)</a:t>
                </a:r>
                <a:endParaRPr lang="en-IL" sz="1800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marL="342900" lvl="0" indent="-342900" algn="r" rtl="1">
                  <a:lnSpc>
                    <a:spcPct val="120000"/>
                  </a:lnSpc>
                  <a:buFont typeface="Arial" panose="020B0604020202020204" pitchFamily="34" charset="0"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L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𝑅</m:t>
                        </m:r>
                      </m:e>
                      <m:sub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Arial" panose="020B0604020202020204" pitchFamily="34" charset="0"/>
                      </a:rPr>
                      <m:t>∈</m:t>
                    </m:r>
                    <m:sSup>
                      <m:sSupPr>
                        <m:ctrlPr>
                          <a:rPr lang="en-IL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ℂ</m:t>
                        </m:r>
                      </m:e>
                      <m:sup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𝑀</m:t>
                        </m:r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×</m:t>
                        </m:r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he-IL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ה- </a:t>
                </a:r>
                <a:r>
                  <a:rPr lang="en-US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SCM</a:t>
                </a:r>
                <a:r>
                  <a:rPr lang="he-IL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(</a:t>
                </a:r>
                <a:r>
                  <a:rPr lang="en-US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spatial covariance matrix</a:t>
                </a:r>
                <a:r>
                  <a:rPr lang="he-IL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)</a:t>
                </a:r>
                <a:endParaRPr lang="en-IL" sz="1800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marL="342900" lvl="0" indent="-342900" algn="r" rtl="1">
                  <a:lnSpc>
                    <a:spcPct val="120000"/>
                  </a:lnSpc>
                  <a:buFont typeface="Arial" panose="020B0604020202020204" pitchFamily="34" charset="0"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L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𝑎</m:t>
                        </m:r>
                      </m:e>
                      <m:sub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Arial" panose="020B0604020202020204" pitchFamily="34" charset="0"/>
                      </a:rPr>
                      <m:t>∈</m:t>
                    </m:r>
                    <m:sSup>
                      <m:sSupPr>
                        <m:ctrlPr>
                          <a:rPr lang="en-IL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ℂ</m:t>
                        </m:r>
                      </m:e>
                      <m:sup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he-IL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וקטור ה- </a:t>
                </a:r>
                <a:r>
                  <a:rPr lang="en-US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RTF</a:t>
                </a:r>
                <a:r>
                  <a:rPr lang="he-IL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(</a:t>
                </a:r>
                <a:r>
                  <a:rPr lang="en-US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relative transfer function</a:t>
                </a:r>
                <a:r>
                  <a:rPr lang="he-IL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)</a:t>
                </a:r>
                <a:endParaRPr lang="en-IL" sz="1800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marL="342900" lvl="0" indent="-342900" algn="r" rtl="1">
                  <a:lnSpc>
                    <a:spcPct val="120000"/>
                  </a:lnSpc>
                  <a:buFont typeface="Arial" panose="020B0604020202020204" pitchFamily="34" charset="0"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L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𝑧</m:t>
                        </m:r>
                      </m:e>
                      <m:sub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sz="1800" kern="100" dirty="0">
                    <a:effectLst/>
                    <a:latin typeface="Arial" panose="020B060402020202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</a:t>
                </a:r>
                <a:r>
                  <a:rPr lang="he-IL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– פרמטרי ה- </a:t>
                </a:r>
                <a:r>
                  <a:rPr lang="en-US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gain</a:t>
                </a:r>
                <a:r>
                  <a:rPr lang="he-IL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המוגבלים להיות ערכים לא שליליים ומייצגים את ההקלה בתנאי חוסר העיוות.</a:t>
                </a:r>
                <a:endParaRPr lang="en-IL" sz="1800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marL="342900" lvl="0" indent="-342900" algn="r" rtl="1">
                  <a:lnSpc>
                    <a:spcPct val="120000"/>
                  </a:lnSpc>
                  <a:buFont typeface="Arial" panose="020B0604020202020204" pitchFamily="34" charset="0"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L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𝑁</m:t>
                        </m:r>
                      </m:e>
                      <m:sub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𝛿</m:t>
                        </m:r>
                      </m:sub>
                    </m:sSub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L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𝛿</m:t>
                        </m:r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,</m:t>
                        </m:r>
                        <m:f>
                          <m:fPr>
                            <m:ctrlPr>
                              <a:rPr lang="en-IL" sz="1800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Arial" panose="020B0604020202020204" pitchFamily="34" charset="0"/>
                              </a:rPr>
                            </m:ctrlPr>
                          </m:fPr>
                          <m:num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Arial" panose="020B0604020202020204" pitchFamily="34" charset="0"/>
                              </a:rPr>
                              <m:t>𝐹</m:t>
                            </m:r>
                          </m:num>
                          <m:den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Arial" panose="020B0604020202020204" pitchFamily="34" charset="0"/>
                              </a:rPr>
                              <m:t>2</m:t>
                            </m:r>
                          </m:den>
                        </m:f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1</m:t>
                        </m:r>
                      </m:e>
                    </m:d>
                  </m:oMath>
                </a14:m>
                <a:endParaRPr lang="en-IL" sz="1800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marL="228600" indent="-228600" algn="r" defTabSz="914400" rtl="1" eaLnBrk="1" latinLnBrk="0" hangingPunct="1">
                  <a:lnSpc>
                    <a:spcPct val="12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97A302-751A-45E4-9006-D04A167BB2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4151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4742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42EAF-CA78-76BB-3D9A-80A688C0A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>
                <a:cs typeface="+mn-cs"/>
              </a:rPr>
              <a:t>תחום הזמן-תדר</a:t>
            </a:r>
            <a:endParaRPr lang="en-IL" dirty="0"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56574-F92E-49C8-163E-9C902BAE7A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algn="r" rtl="1"/>
                <a:r>
                  <a:rPr lang="he-IL" dirty="0"/>
                  <a:t>מקדמי ה- </a:t>
                </a:r>
                <a:r>
                  <a:rPr lang="en-US" dirty="0"/>
                  <a:t>RTF</a:t>
                </a:r>
                <a:r>
                  <a:rPr lang="he-IL" dirty="0"/>
                  <a:t> </a:t>
                </a:r>
                <a:r>
                  <a:rPr lang="en-US" dirty="0"/>
                  <a:t>(Relative Transfer Function)</a:t>
                </a:r>
                <a:r>
                  <a:rPr lang="he-IL" dirty="0"/>
                  <a:t> של אות הדובר ידועים או משוערכים מראש.</a:t>
                </a:r>
              </a:p>
              <a:p>
                <a:pPr algn="r" rtl="1"/>
                <a:r>
                  <a:rPr lang="he-IL" dirty="0"/>
                  <a:t>שערוך ה- </a:t>
                </a:r>
                <a:r>
                  <a:rPr lang="en-US" dirty="0"/>
                  <a:t>SCM</a:t>
                </a:r>
                <a:r>
                  <a:rPr lang="he-IL" dirty="0"/>
                  <a:t> (</a:t>
                </a:r>
                <a:r>
                  <a:rPr lang="en-US" dirty="0"/>
                  <a:t>Spatial Covariance Matrix</a:t>
                </a:r>
                <a:r>
                  <a:rPr lang="he-IL" dirty="0"/>
                  <a:t>)</a:t>
                </a:r>
                <a:endParaRPr lang="en-US" dirty="0"/>
              </a:p>
              <a:p>
                <a:pPr algn="r" rtl="1"/>
                <a:r>
                  <a:rPr lang="he-IL" dirty="0"/>
                  <a:t>בניית </a:t>
                </a:r>
                <a:r>
                  <a:rPr lang="en-US" dirty="0"/>
                  <a:t>quasi-causal spatial filter</a:t>
                </a:r>
                <a:endParaRPr lang="he-IL" dirty="0"/>
              </a:p>
              <a:p>
                <a:pPr algn="r" rtl="1"/>
                <a:r>
                  <a:rPr lang="he-IL" dirty="0"/>
                  <a:t>נעשה שימוש בשיטת </a:t>
                </a:r>
                <a:r>
                  <a:rPr lang="en-US" dirty="0"/>
                  <a:t>DRS</a:t>
                </a:r>
                <a:r>
                  <a:rPr lang="he-IL" dirty="0"/>
                  <a:t> (</a:t>
                </a:r>
                <a:r>
                  <a:rPr lang="en-US" dirty="0" err="1"/>
                  <a:t>Dougles</a:t>
                </a:r>
                <a:r>
                  <a:rPr lang="en-US" dirty="0"/>
                  <a:t> </a:t>
                </a:r>
                <a:r>
                  <a:rPr lang="en-US" dirty="0" err="1"/>
                  <a:t>Rachford</a:t>
                </a:r>
                <a:r>
                  <a:rPr lang="en-US" dirty="0"/>
                  <a:t> Splitting</a:t>
                </a:r>
                <a:r>
                  <a:rPr lang="he-IL" dirty="0"/>
                  <a:t>) לפתרון בעיית האופטימיזציה.</a:t>
                </a:r>
                <a:endParaRPr lang="en-US" dirty="0"/>
              </a:p>
              <a:p>
                <a:pPr algn="r" rtl="1"/>
                <a:r>
                  <a:rPr lang="he-IL" dirty="0"/>
                  <a:t>עלות חישוב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IL" i="1">
                            <a:effectLst/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IL" i="1">
                                <a:effectLst/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Arial" panose="020B0604020202020204" pitchFamily="34" charset="0"/>
                              </a:rPr>
                              <m:t>𝒪</m:t>
                            </m:r>
                            <m:d>
                              <m:dPr>
                                <m:ctrlPr>
                                  <a:rPr lang="en-IL" i="1">
                                    <a:effectLst/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effectLst/>
                                    <a:latin typeface="Cambria Math" panose="02040503050406030204" pitchFamily="18" charset="0"/>
                                    <a:ea typeface="DengXian" panose="02010600030101010101" pitchFamily="2" charset="-122"/>
                                    <a:cs typeface="Arial" panose="020B0604020202020204" pitchFamily="34" charset="0"/>
                                  </a:rPr>
                                  <m:t>𝐹</m:t>
                                </m:r>
                                <m:sSup>
                                  <m:sSupPr>
                                    <m:ctrlPr>
                                      <a:rPr lang="en-IL" i="1">
                                        <a:effectLst/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Arial" panose="020B0604020202020204" pitchFamily="34" charset="0"/>
                                      </a:rPr>
                                      <m:t>𝑀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Arial" panose="020B0604020202020204" pitchFamily="34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Arial" panose="020B0604020202020204" pitchFamily="34" charset="0"/>
                              </a:rPr>
                              <m:t>,</m:t>
                            </m:r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Arial" panose="020B0604020202020204" pitchFamily="34" charset="0"/>
                              </a:rPr>
                              <m:t>𝒪</m:t>
                            </m:r>
                            <m:d>
                              <m:dPr>
                                <m:ctrlPr>
                                  <a:rPr lang="en-IL" i="1">
                                    <a:effectLst/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effectLst/>
                                    <a:latin typeface="Cambria Math" panose="02040503050406030204" pitchFamily="18" charset="0"/>
                                    <a:ea typeface="DengXian" panose="02010600030101010101" pitchFamily="2" charset="-122"/>
                                    <a:cs typeface="Arial" panose="020B0604020202020204" pitchFamily="34" charset="0"/>
                                  </a:rPr>
                                  <m:t>𝐹𝑀</m:t>
                                </m:r>
                                <m:func>
                                  <m:funcPr>
                                    <m:ctrlPr>
                                      <a:rPr lang="en-IL" i="1">
                                        <a:effectLst/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Arial" panose="020B0604020202020204" pitchFamily="34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Arial" panose="020B0604020202020204" pitchFamily="34" charset="0"/>
                                      </a:rPr>
                                      <m:t>𝐹</m:t>
                                    </m:r>
                                  </m:e>
                                </m:func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algn="r" rtl="1"/>
                <a:endParaRPr lang="he-IL" dirty="0"/>
              </a:p>
              <a:p>
                <a:pPr marL="228600" indent="-228600" algn="r" defTabSz="914400" rtl="1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endParaRPr lang="he-IL" dirty="0"/>
              </a:p>
              <a:p>
                <a:pPr marL="228600" indent="-228600" algn="r" defTabSz="914400" rtl="1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56574-F92E-49C8-163E-9C902BAE7A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887" r="-586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58051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F00A3-E06B-6894-2A57-67CF5B4A4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he-IL" dirty="0">
                <a:cs typeface="+mn-cs"/>
              </a:rPr>
              <a:t>תחום הזמן – </a:t>
            </a:r>
            <a:r>
              <a:rPr lang="en-US" dirty="0">
                <a:cs typeface="+mn-cs"/>
              </a:rPr>
              <a:t>Filter and sum</a:t>
            </a:r>
            <a:endParaRPr lang="en-IL" dirty="0"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634319-8BEB-7959-AE3A-4FA9A5B209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r" rtl="1"/>
                <a:r>
                  <a:rPr lang="he-IL" kern="100" dirty="0"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אות המוצא מחולץ דגימה-דגימה על ידי ה- </a:t>
                </a:r>
                <a:r>
                  <a:rPr lang="en-US" dirty="0"/>
                  <a:t>quasi-causal spatial filter</a:t>
                </a:r>
                <a:r>
                  <a:rPr lang="he-IL" kern="100" dirty="0"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בפעולת </a:t>
                </a:r>
                <a:r>
                  <a:rPr lang="he-IL" kern="100" dirty="0" err="1"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קונבולוציה</a:t>
                </a:r>
                <a:r>
                  <a:rPr lang="he-IL" kern="100" dirty="0"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בזמן.</a:t>
                </a:r>
              </a:p>
              <a:p>
                <a:pPr algn="r" rtl="1"/>
                <a:r>
                  <a:rPr lang="he-IL" kern="100" dirty="0"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נעשה שימוש במסנן </a:t>
                </a:r>
                <a:r>
                  <a:rPr lang="en-US" kern="100" dirty="0"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quasi-causal filter</a:t>
                </a:r>
                <a:r>
                  <a:rPr lang="he-IL" kern="100" dirty="0"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kern="100" dirty="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b="0" i="1" kern="100" dirty="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𝒩</m:t>
                        </m:r>
                      </m:e>
                      <m:sub>
                        <m:r>
                          <a:rPr lang="en-US" b="0" i="1" kern="100" dirty="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𝛿</m:t>
                        </m:r>
                      </m:sub>
                    </m:sSub>
                    <m:r>
                      <a:rPr lang="en-US" b="0" i="1" kern="100" dirty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kern="100" dirty="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b="0" i="1" kern="100" dirty="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𝛿</m:t>
                        </m:r>
                        <m:r>
                          <a:rPr lang="en-US" b="0" i="1" kern="100" dirty="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,</m:t>
                        </m:r>
                        <m:f>
                          <m:fPr>
                            <m:ctrlPr>
                              <a:rPr lang="en-US" b="0" i="1" kern="100" dirty="0" smtClean="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Arial" panose="020B0604020202020204" pitchFamily="34" charset="0"/>
                              </a:rPr>
                            </m:ctrlPr>
                          </m:fPr>
                          <m:num>
                            <m:r>
                              <a:rPr lang="en-US" b="0" i="1" kern="100" dirty="0" smtClean="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Arial" panose="020B0604020202020204" pitchFamily="34" charset="0"/>
                              </a:rPr>
                              <m:t>𝐹</m:t>
                            </m:r>
                          </m:num>
                          <m:den>
                            <m:r>
                              <a:rPr lang="en-US" b="0" i="1" kern="100" dirty="0" smtClean="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Arial" panose="020B0604020202020204" pitchFamily="34" charset="0"/>
                              </a:rPr>
                              <m:t>2</m:t>
                            </m:r>
                          </m:den>
                        </m:f>
                        <m:r>
                          <a:rPr lang="en-US" b="0" i="1" kern="100" dirty="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en-US" b="0" i="1" kern="100" dirty="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he-IL" kern="100" dirty="0"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:</a:t>
                </a:r>
              </a:p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kern="100" dirty="0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b="0" i="1" kern="100" smtClean="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r>
                                <a:rPr lang="en-US" b="0" i="1" kern="100" smtClean="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𝑤</m:t>
                              </m:r>
                            </m:e>
                          </m:acc>
                        </m:e>
                        <m:sub>
                          <m:r>
                            <a:rPr lang="en-US" b="0" i="1" kern="100" dirty="0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𝑛</m:t>
                          </m:r>
                          <m:r>
                            <a:rPr lang="en-US" b="0" i="1" kern="100" dirty="0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0" i="1" kern="100" dirty="0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𝑚</m:t>
                          </m:r>
                        </m:sub>
                      </m:sSub>
                      <m:r>
                        <a:rPr lang="en-US" b="0" i="1" kern="100" dirty="0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kern="100" dirty="0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kern="100" dirty="0" smtClean="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b="0" i="1" kern="100" dirty="0" smtClean="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b="0" i="1" kern="100" dirty="0" smtClean="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kern="100" dirty="0" smtClean="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  <m:t>𝑤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b="0" i="1" kern="100" dirty="0" smtClean="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𝑛</m:t>
                                  </m:r>
                                  <m:r>
                                    <a:rPr lang="en-US" b="0" i="1" kern="100" dirty="0" smtClean="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,</m:t>
                                  </m:r>
                                  <m:r>
                                    <a:rPr lang="en-US" b="0" i="1" kern="100" dirty="0" smtClean="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b="0" i="1" kern="100" dirty="0" smtClean="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  </m:t>
                              </m:r>
                              <m:d>
                                <m:dPr>
                                  <m:ctrlPr>
                                    <a:rPr lang="en-US" b="0" i="1" kern="100" dirty="0" smtClean="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kern="100" dirty="0" smtClean="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𝑛</m:t>
                                  </m:r>
                                  <m:r>
                                    <a:rPr lang="en-US" b="0" i="1" kern="100" dirty="0" smtClean="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kern="100" dirty="0" smtClean="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kern="100" dirty="0" smtClean="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  <m:t>𝒩</m:t>
                                      </m:r>
                                    </m:e>
                                    <m:sub>
                                      <m:r>
                                        <a:rPr lang="en-US" b="0" i="1" kern="100" dirty="0" smtClean="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  <m:t>𝛿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e>
                              <m:r>
                                <a:rPr lang="en-US" b="0" i="1" kern="100" dirty="0" smtClean="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  <m:r>
                                <a:rPr lang="en-US" b="0" i="1" kern="100" dirty="0" smtClean="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   </m:t>
                              </m:r>
                              <m:d>
                                <m:dPr>
                                  <m:ctrlPr>
                                    <a:rPr lang="en-US" b="0" i="1" kern="100" dirty="0" smtClean="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kern="100" dirty="0" smtClean="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𝑛</m:t>
                                  </m:r>
                                  <m:r>
                                    <a:rPr lang="en-US" b="0" i="1" kern="100" dirty="0" smtClean="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∉</m:t>
                                  </m:r>
                                  <m:sSub>
                                    <m:sSubPr>
                                      <m:ctrlPr>
                                        <a:rPr lang="en-US" b="0" i="1" kern="100" dirty="0" smtClean="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kern="100" dirty="0" smtClean="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  <m:t>𝒩</m:t>
                                      </m:r>
                                    </m:e>
                                    <m:sub>
                                      <m:r>
                                        <a:rPr lang="en-US" b="0" i="1" kern="100" dirty="0" smtClean="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  <m:t>𝛿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eqArr>
                        </m:e>
                      </m:d>
                    </m:oMath>
                  </m:oMathPara>
                </a14:m>
                <a:endParaRPr lang="he-IL" kern="100" dirty="0"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algn="r" rtl="1"/>
                <a:endParaRPr lang="he-IL" kern="100" dirty="0"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algn="r" rtl="1"/>
                <a:r>
                  <a:rPr lang="he-IL" kern="100" dirty="0"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הוספת </a:t>
                </a:r>
                <a:r>
                  <a:rPr lang="he-IL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השהייה של </a:t>
                </a:r>
                <a14:m>
                  <m:oMath xmlns:m="http://schemas.openxmlformats.org/officeDocument/2006/math">
                    <m:r>
                      <a:rPr lang="en-US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Arial" panose="020B0604020202020204" pitchFamily="34" charset="0"/>
                      </a:rPr>
                      <m:t>𝛿</m:t>
                    </m:r>
                  </m:oMath>
                </a14:m>
                <a:r>
                  <a:rPr lang="he-IL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דגימות לא סיבתיות, כאשר </a:t>
                </a:r>
                <a14:m>
                  <m:oMath xmlns:m="http://schemas.openxmlformats.org/officeDocument/2006/math">
                    <m:r>
                      <a:rPr lang="en-US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Arial" panose="020B0604020202020204" pitchFamily="34" charset="0"/>
                      </a:rPr>
                      <m:t>𝛿</m:t>
                    </m:r>
                    <m:r>
                      <a:rPr lang="en-US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Arial" panose="020B0604020202020204" pitchFamily="34" charset="0"/>
                      </a:rPr>
                      <m:t>≥</m:t>
                    </m:r>
                    <m:r>
                      <a:rPr lang="en-US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Arial" panose="020B0604020202020204" pitchFamily="34" charset="0"/>
                      </a:rPr>
                      <m:t>0</m:t>
                    </m:r>
                  </m:oMath>
                </a14:m>
                <a:endParaRPr lang="en-US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algn="r" rtl="1"/>
                <a:endParaRPr lang="en-IL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634319-8BEB-7959-AE3A-4FA9A5B209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1069" r="-586" b="-22327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3286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82696-B31C-EB1C-80FE-96392ADDA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>
                <a:cs typeface="+mn-cs"/>
              </a:rPr>
              <a:t>תוצאות סימולציה</a:t>
            </a:r>
            <a:endParaRPr lang="en-IL" dirty="0">
              <a:cs typeface="+mn-cs"/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B0C2743-45D0-A1FC-0CD1-1F9D84C4BB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2434280"/>
            <a:ext cx="5848865" cy="31384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E9A3C02-6EF2-766F-0FFB-5D4D76743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54758"/>
            <a:ext cx="5867635" cy="28974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0285F1-D35B-F458-CCC9-BE44F8E432D1}"/>
              </a:ext>
            </a:extLst>
          </p:cNvPr>
          <p:cNvSpPr txBox="1"/>
          <p:nvPr/>
        </p:nvSpPr>
        <p:spPr>
          <a:xfrm>
            <a:off x="7467600" y="1734235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e-IL" dirty="0"/>
              <a:t>קרוס קורלציה בין האות במקירופון הרפרנס לבין האות המחולץ</a:t>
            </a:r>
            <a:endParaRPr lang="en-I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0D6422-97E7-C659-7ECD-2BD86F1A18EC}"/>
                  </a:ext>
                </a:extLst>
              </p:cNvPr>
              <p:cNvSpPr txBox="1"/>
              <p:nvPr/>
            </p:nvSpPr>
            <p:spPr>
              <a:xfrm>
                <a:off x="1105017" y="2089959"/>
                <a:ext cx="3657600" cy="411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IL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0D6422-97E7-C659-7ECD-2BD86F1A18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017" y="2089959"/>
                <a:ext cx="3657600" cy="411331"/>
              </a:xfrm>
              <a:prstGeom prst="rect">
                <a:avLst/>
              </a:prstGeom>
              <a:blipFill>
                <a:blip r:embed="rId4"/>
                <a:stretch>
                  <a:fillRect b="-8955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3913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C5B6B-16B7-E0FE-DC62-3901BC8C0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F8BFD-EE09-B5AF-C204-728AB5B5C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>
                <a:cs typeface="+mn-cs"/>
              </a:rPr>
              <a:t>תוצאות סימולציה</a:t>
            </a:r>
            <a:endParaRPr lang="en-IL" dirty="0">
              <a:cs typeface="+mn-cs"/>
            </a:endParaRPr>
          </a:p>
        </p:txBody>
      </p:sp>
      <p:pic>
        <p:nvPicPr>
          <p:cNvPr id="8" name="source_signal_0.wav">
            <a:hlinkClick r:id="" action="ppaction://media"/>
            <a:extLst>
              <a:ext uri="{FF2B5EF4-FFF2-40B4-BE49-F238E27FC236}">
                <a16:creationId xmlns:a16="http://schemas.microsoft.com/office/drawing/2014/main" id="{770597A3-93B0-BA81-4CE1-59D24AECBA5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10693400" y="2568832"/>
            <a:ext cx="812800" cy="812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1FBC63A-6677-CA30-78DA-A583B5F4165B}"/>
              </a:ext>
            </a:extLst>
          </p:cNvPr>
          <p:cNvSpPr txBox="1"/>
          <p:nvPr/>
        </p:nvSpPr>
        <p:spPr>
          <a:xfrm>
            <a:off x="10438713" y="2064952"/>
            <a:ext cx="1322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he-IL" dirty="0"/>
              <a:t>אות המקור</a:t>
            </a:r>
            <a:endParaRPr lang="en-IL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370723-8FB9-11F6-6FC4-9A3B6DCDD7B3}"/>
              </a:ext>
            </a:extLst>
          </p:cNvPr>
          <p:cNvSpPr txBox="1"/>
          <p:nvPr/>
        </p:nvSpPr>
        <p:spPr>
          <a:xfrm>
            <a:off x="10438713" y="3516180"/>
            <a:ext cx="1322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he-IL" dirty="0"/>
              <a:t>אות מורעש</a:t>
            </a:r>
            <a:endParaRPr lang="en-IL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41D5E2-C7C5-4910-5577-BEE86853A303}"/>
              </a:ext>
            </a:extLst>
          </p:cNvPr>
          <p:cNvSpPr txBox="1"/>
          <p:nvPr/>
        </p:nvSpPr>
        <p:spPr>
          <a:xfrm>
            <a:off x="9341709" y="5054594"/>
            <a:ext cx="24191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he-IL" dirty="0"/>
              <a:t>אות במוצא </a:t>
            </a:r>
            <a:r>
              <a:rPr lang="en-US" dirty="0"/>
              <a:t>prop-relax</a:t>
            </a:r>
            <a:endParaRPr lang="en-IL" dirty="0"/>
          </a:p>
        </p:txBody>
      </p:sp>
      <p:pic>
        <p:nvPicPr>
          <p:cNvPr id="12" name="xt_0.wav">
            <a:hlinkClick r:id="" action="ppaction://media"/>
            <a:extLst>
              <a:ext uri="{FF2B5EF4-FFF2-40B4-BE49-F238E27FC236}">
                <a16:creationId xmlns:a16="http://schemas.microsoft.com/office/drawing/2014/main" id="{7B587276-F510-1116-DD7B-00F3E4A170AC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10676923" y="4063653"/>
            <a:ext cx="812800" cy="812800"/>
          </a:xfrm>
          <a:prstGeom prst="rect">
            <a:avLst/>
          </a:prstGeom>
        </p:spPr>
      </p:pic>
      <p:pic>
        <p:nvPicPr>
          <p:cNvPr id="13" name="prop_relax_out_0.wav">
            <a:hlinkClick r:id="" action="ppaction://media"/>
            <a:extLst>
              <a:ext uri="{FF2B5EF4-FFF2-40B4-BE49-F238E27FC236}">
                <a16:creationId xmlns:a16="http://schemas.microsoft.com/office/drawing/2014/main" id="{195DBDD7-A567-AF27-BEC7-989A99BC9592}"/>
              </a:ext>
            </a:extLst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10676923" y="5603813"/>
            <a:ext cx="812800" cy="812800"/>
          </a:xfrm>
          <a:prstGeom prst="rect">
            <a:avLst/>
          </a:prstGeom>
        </p:spPr>
      </p:pic>
      <p:pic>
        <p:nvPicPr>
          <p:cNvPr id="6" name="Content Placeholder 5" descr="A group of graphs showing the results of a performance&#10;&#10;AI-generated content may be incorrect.">
            <a:extLst>
              <a:ext uri="{FF2B5EF4-FFF2-40B4-BE49-F238E27FC236}">
                <a16:creationId xmlns:a16="http://schemas.microsoft.com/office/drawing/2014/main" id="{3D721855-1564-E637-768A-061925CD25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9"/>
          <a:stretch>
            <a:fillRect/>
          </a:stretch>
        </p:blipFill>
        <p:spPr>
          <a:xfrm>
            <a:off x="341146" y="1803406"/>
            <a:ext cx="9000563" cy="4104234"/>
          </a:xfr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6ECE94C-7F42-7B20-5F9E-070586C08E7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59841" y="5996779"/>
            <a:ext cx="4218362" cy="74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742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0280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0280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  <p:audio>
              <p:cMediaNode vol="100000">
                <p:cTn id="1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  <p:audio>
              <p:cMediaNode vol="80000">
                <p:cTn id="1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4A1AF-6589-2772-DEDE-D5009DCD6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30CF6-F16B-4BDA-7292-740A426F7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תיאור השיטה בזמן אמת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FC3B8-1B13-225A-F8A8-1832EB2A98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2341"/>
            <a:ext cx="10515600" cy="4351338"/>
          </a:xfrm>
        </p:spPr>
        <p:txBody>
          <a:bodyPr/>
          <a:lstStyle/>
          <a:p>
            <a:pPr marL="0" indent="0" algn="r" rtl="1">
              <a:buNone/>
            </a:pPr>
            <a:endParaRPr lang="en-US" sz="1800" kern="100" dirty="0">
              <a:effectLst/>
              <a:latin typeface="Calibri" panose="020F0502020204030204" pitchFamily="34" charset="0"/>
              <a:ea typeface="DengXian" panose="02010600030101010101" pitchFamily="2" charset="-122"/>
              <a:cs typeface="Arial" panose="020B0604020202020204" pitchFamily="34" charset="0"/>
            </a:endParaRPr>
          </a:p>
          <a:p>
            <a:pPr marL="0" indent="0" algn="r" rtl="1">
              <a:buNone/>
            </a:pPr>
            <a:endParaRPr lang="en-IL" sz="1800" kern="100" dirty="0">
              <a:effectLst/>
              <a:latin typeface="Calibri" panose="020F0502020204030204" pitchFamily="34" charset="0"/>
              <a:ea typeface="DengXian" panose="02010600030101010101" pitchFamily="2" charset="-122"/>
              <a:cs typeface="Arial" panose="020B0604020202020204" pitchFamily="34" charset="0"/>
            </a:endParaRP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I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04159F-7DD2-CC43-3C1F-FF298CC7A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3496" y="1971280"/>
            <a:ext cx="6049219" cy="2829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9F6C9D-D274-FD50-4559-AD0A5B5D8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8298" y="5056527"/>
            <a:ext cx="4629959" cy="66661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8AF1D2C-AACA-EB2E-BD1A-4B4310FFD7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35" y="3109070"/>
            <a:ext cx="5817340" cy="2280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01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BC27E-FF28-6F5D-54A2-9194C3926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76AC8-AFDD-4AF4-2334-F8126AAB4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>
                <a:cs typeface="+mn-cs"/>
              </a:rPr>
              <a:t>תוצאות סימולציה</a:t>
            </a:r>
            <a:endParaRPr lang="en-IL" dirty="0"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288B88-3180-7C10-8F01-3A105CA1FDA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111" y="2194560"/>
            <a:ext cx="5543476" cy="3363759"/>
          </a:xfrm>
          <a:prstGeom prst="rect">
            <a:avLst/>
          </a:prstGeom>
        </p:spPr>
      </p:pic>
      <p:pic>
        <p:nvPicPr>
          <p:cNvPr id="6" name="clean_signal">
            <a:hlinkClick r:id="" action="ppaction://media"/>
            <a:extLst>
              <a:ext uri="{FF2B5EF4-FFF2-40B4-BE49-F238E27FC236}">
                <a16:creationId xmlns:a16="http://schemas.microsoft.com/office/drawing/2014/main" id="{17013449-72F7-0CF4-272D-9F3EA80E5862}"/>
              </a:ext>
            </a:extLst>
          </p:cNvPr>
          <p:cNvPicPr>
            <a:picLocks noGrp="1" noChangeAspect="1"/>
          </p:cNvPicPr>
          <p:nvPr>
            <p:ph idx="1"/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10373472" y="2731213"/>
            <a:ext cx="609601" cy="609601"/>
          </a:xfrm>
          <a:prstGeom prst="rect">
            <a:avLst/>
          </a:prstGeom>
        </p:spPr>
      </p:pic>
      <p:pic>
        <p:nvPicPr>
          <p:cNvPr id="7" name="moving_noise">
            <a:hlinkClick r:id="" action="ppaction://media"/>
            <a:extLst>
              <a:ext uri="{FF2B5EF4-FFF2-40B4-BE49-F238E27FC236}">
                <a16:creationId xmlns:a16="http://schemas.microsoft.com/office/drawing/2014/main" id="{F09BFAC7-4BBB-16A4-BB27-DC1CE07A2628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10373473" y="4075096"/>
            <a:ext cx="609600" cy="609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D9B044-3415-D6AE-6A90-BB4AC59FE01A}"/>
              </a:ext>
            </a:extLst>
          </p:cNvPr>
          <p:cNvSpPr txBox="1"/>
          <p:nvPr/>
        </p:nvSpPr>
        <p:spPr>
          <a:xfrm>
            <a:off x="9863075" y="2209641"/>
            <a:ext cx="1322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he-IL" dirty="0"/>
              <a:t>אות המקור</a:t>
            </a:r>
            <a:endParaRPr lang="en-I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64B26D-32D4-5605-C93A-5B0ADC4C6ECD}"/>
              </a:ext>
            </a:extLst>
          </p:cNvPr>
          <p:cNvSpPr txBox="1"/>
          <p:nvPr/>
        </p:nvSpPr>
        <p:spPr>
          <a:xfrm>
            <a:off x="9863075" y="3589535"/>
            <a:ext cx="1322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he-IL" dirty="0"/>
              <a:t>אות הרעש</a:t>
            </a:r>
            <a:endParaRPr lang="en-IL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76496A-6880-739E-7785-C035B0E2BE9A}"/>
              </a:ext>
            </a:extLst>
          </p:cNvPr>
          <p:cNvSpPr txBox="1"/>
          <p:nvPr/>
        </p:nvSpPr>
        <p:spPr>
          <a:xfrm>
            <a:off x="7695344" y="2206378"/>
            <a:ext cx="16200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he-IL" dirty="0"/>
              <a:t>המקור עם הרעש</a:t>
            </a:r>
            <a:endParaRPr lang="en-IL" dirty="0"/>
          </a:p>
        </p:txBody>
      </p:sp>
      <p:pic>
        <p:nvPicPr>
          <p:cNvPr id="11" name="noisy_signal">
            <a:hlinkClick r:id="" action="ppaction://media"/>
            <a:extLst>
              <a:ext uri="{FF2B5EF4-FFF2-40B4-BE49-F238E27FC236}">
                <a16:creationId xmlns:a16="http://schemas.microsoft.com/office/drawing/2014/main" id="{C9FA86B1-2D27-E519-0066-07F62C6D1F43}"/>
              </a:ext>
            </a:extLst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505348" y="2979935"/>
            <a:ext cx="609600" cy="609600"/>
          </a:xfrm>
          <a:prstGeom prst="rect">
            <a:avLst/>
          </a:prstGeom>
        </p:spPr>
      </p:pic>
      <p:pic>
        <p:nvPicPr>
          <p:cNvPr id="13" name="prop_relax_out_signal_0">
            <a:hlinkClick r:id="" action="ppaction://media"/>
            <a:extLst>
              <a:ext uri="{FF2B5EF4-FFF2-40B4-BE49-F238E27FC236}">
                <a16:creationId xmlns:a16="http://schemas.microsoft.com/office/drawing/2014/main" id="{51E4AE1B-EE8D-8D58-FEB1-885FEEDEB8AE}"/>
              </a:ext>
            </a:extLst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577267" y="4284269"/>
            <a:ext cx="609600" cy="6096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7187212-9DED-D462-5E74-ECDAFE30123B}"/>
              </a:ext>
            </a:extLst>
          </p:cNvPr>
          <p:cNvSpPr txBox="1"/>
          <p:nvPr/>
        </p:nvSpPr>
        <p:spPr>
          <a:xfrm>
            <a:off x="7869004" y="3852243"/>
            <a:ext cx="1620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en-US" dirty="0"/>
              <a:t>Prop-relax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054184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000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0000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10000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  <p:audio>
              <p:cMediaNode vol="80000">
                <p:cTn id="2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1"/>
                </p:tgtEl>
              </p:cMediaNode>
            </p:audio>
            <p:audio>
              <p:cMediaNode vol="80000">
                <p:cTn id="2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3BD4E-1B90-07B0-3994-AB562D4EA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he-IL" dirty="0">
                <a:cs typeface="+mn-cs"/>
              </a:rPr>
              <a:t>החידוש והתרומה של המאמר ביחס לקיים</a:t>
            </a:r>
            <a:endParaRPr lang="en-IL" dirty="0">
              <a:cs typeface="+mn-cs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57E6C3E-01F6-2CDF-CD4F-264CCA52D3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9933" y="1937071"/>
            <a:ext cx="4889283" cy="402431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0899F9-7815-3CE3-E894-245215CDA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77078"/>
            <a:ext cx="5056836" cy="4227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456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4C7C2-0A9C-115A-3786-9B69A1EE4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dirty="0">
                <a:cs typeface="+mn-cs"/>
              </a:rPr>
              <a:t>ביקורת והצעות לשיפור</a:t>
            </a:r>
            <a:endParaRPr lang="en-IL" dirty="0"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39D00F-CB15-ABE0-3E86-31A65127F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he-IL" dirty="0"/>
              <a:t>עלות חישובית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he-IL" dirty="0"/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he-IL" dirty="0"/>
              <a:t>אופן בחירת פרמטרי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he-IL" dirty="0"/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he-IL" dirty="0"/>
              <a:t>איכון דוברים לאתחול מקדמי המסנן</a:t>
            </a:r>
            <a:endParaRPr lang="en-US" dirty="0"/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dirty="0"/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he-IL" dirty="0"/>
              <a:t>בחינת התכנסות הפתרון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7983412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22334-3AB9-72F1-57B4-676978C44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הצעות לשיפור – איכון דובר לאתחול פרמטרים ושיפור התכנסות הפרמטרים</a:t>
            </a:r>
            <a:endParaRPr lang="en-IL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D23705-28A1-6A95-D61E-EADE297F7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6171" y="2204200"/>
            <a:ext cx="4626274" cy="35904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B6823C3-97BA-B3D9-E595-3BE51D5645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8336" y="2125784"/>
            <a:ext cx="4807493" cy="3747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67237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01D17D"/>
      </a:accent1>
      <a:accent2>
        <a:srgbClr val="84C72A"/>
      </a:accent2>
      <a:accent3>
        <a:srgbClr val="E1D126"/>
      </a:accent3>
      <a:accent4>
        <a:srgbClr val="E29932"/>
      </a:accent4>
      <a:accent5>
        <a:srgbClr val="E56526"/>
      </a:accent5>
      <a:accent6>
        <a:srgbClr val="D63731"/>
      </a:accent6>
      <a:hlink>
        <a:srgbClr val="35FA7F"/>
      </a:hlink>
      <a:folHlink>
        <a:srgbClr val="BAFC85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2B2A868B-6BC2-4B3E-98B9-1258F41035D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{D4107712-16F2-814D-A0D3-642A2FDAE777}tf10001079</Template>
  <TotalTime>706</TotalTime>
  <Words>368</Words>
  <Application>Microsoft Office PowerPoint</Application>
  <PresentationFormat>Widescreen</PresentationFormat>
  <Paragraphs>62</Paragraphs>
  <Slides>14</Slides>
  <Notes>2</Notes>
  <HiddenSlides>0</HiddenSlides>
  <MMClips>7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Cambria Math</vt:lpstr>
      <vt:lpstr>Century Gothic</vt:lpstr>
      <vt:lpstr>Vapor Trail</vt:lpstr>
      <vt:lpstr>פרויקט סופי בקורס "עיבוד אותות ושיטות למידה לדיבור"</vt:lpstr>
      <vt:lpstr>Causal and Relaxed-Distortionless Response Beamforming for Online Target Source Extraction</vt:lpstr>
      <vt:lpstr>Target Source Extraction</vt:lpstr>
      <vt:lpstr>תיאור השיטה - MPrDR Beamformer </vt:lpstr>
      <vt:lpstr>תיאור השיטה - MPrDR Beamformer </vt:lpstr>
      <vt:lpstr>תחום הזמן-תדר</vt:lpstr>
      <vt:lpstr>תחום הזמן – Filter and sum</vt:lpstr>
      <vt:lpstr>תוצאות סימולציה</vt:lpstr>
      <vt:lpstr>תוצאות סימולציה</vt:lpstr>
      <vt:lpstr>תיאור השיטה בזמן אמת</vt:lpstr>
      <vt:lpstr>תוצאות סימולציה</vt:lpstr>
      <vt:lpstr>החידוש והתרומה של המאמר ביחס לקיים</vt:lpstr>
      <vt:lpstr>ביקורת והצעות לשיפור</vt:lpstr>
      <vt:lpstr>הצעות לשיפור – איכון דובר לאתחול פרמטרים ושיפור התכנסות הפרמטרים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Roni Caduri</dc:creator>
  <cp:lastModifiedBy>David Levin</cp:lastModifiedBy>
  <cp:revision>15</cp:revision>
  <dcterms:created xsi:type="dcterms:W3CDTF">2025-03-08T17:13:32Z</dcterms:created>
  <dcterms:modified xsi:type="dcterms:W3CDTF">2025-03-11T10:09:22Z</dcterms:modified>
</cp:coreProperties>
</file>